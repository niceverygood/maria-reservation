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첫 문장이 이 제안의 전부입니다. 병원이 아직 전화로 예약을 받고 있다는 사실과, 그 비용이 장부에 잡히지 않는다는 점을 먼저 인정하게 만드는 것이 목적입니다.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다섯 개 모두 "비용으로 안 잡힌다"는 공통점이 있습니다. 그래서 병원은 손실이 나는 줄 모릅니다. 여기서 원장님이 하나라도 짚어주시면 그 항목으로 대화를 이어가시면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표의 핵심은 숫자가 아니라 산출식을 전부 공개한다는 점입니다. 병원이 자기 숫자를 넣어 직접 계산하게 하면, 우리가 제시한 수치를 방어할 필요가 없어집니다. 달성률 50%로 깎아둔 것도 같은 이유입니다.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병원장이 가장 먼저 묻는 것은 "우리 직원이 얼마나 붙어야 하느냐"입니다. 32시간이라는 숫자를 먼저 드리면 그 다음 대화가 쉬워집니다. 5주차 무위약 중단 조항은 계약 문턱을 낮추는 장치입니다.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구축비를 낮춘 것과 최소 약정 24개월은 한 쌍입니다. 구축비는 실제로 10주 일한 인건비라, 그것만 깎으면 우리가 먼저 대는 구조가 됩니다. 원장님 입장에서는 500만원과 2,800만원이 결재 라인 자체가 다르므로 문턱을 없애는 값으로 설명하시면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연락처 4개 항목과 표지의 제품명은 실제 정보로 교체해야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3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7FB6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제품명</a:t>
            </a:r>
            <a:pPr indent="0" marL="0">
              <a:buNone/>
            </a:pPr>
            <a:r>
              <a:rPr lang="en-US" sz="1200" spc="140" kern="0" dirty="0">
                <a:solidFill>
                  <a:srgbClr val="6E8C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병원 스마트 AI CRM · 진료과 불문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66928" y="932688"/>
            <a:ext cx="11057839" cy="12802"/>
          </a:xfrm>
          <a:prstGeom prst="rect">
            <a:avLst/>
          </a:prstGeom>
          <a:solidFill>
            <a:srgbClr val="1E4463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975104"/>
            <a:ext cx="104241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예약 한 건을 잡는 데,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566928" y="2743200"/>
            <a:ext cx="104241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병원은 아직 </a:t>
            </a:r>
            <a:pPr indent="0" marL="0">
              <a:buNone/>
            </a:pPr>
            <a:r>
              <a:rPr lang="en-US" sz="4200" b="1" dirty="0">
                <a:solidFill>
                  <a:srgbClr val="7FB6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전화</a:t>
            </a:r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씁니다.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566928" y="3767328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A9C4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진료과가 달라도 병목은 같습니다 — 전화, 노쇼, 끊긴 재방문.</a:t>
            </a:r>
            <a:endParaRPr lang="en-US" sz="13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A9C4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국내에서 예약 규칙이 가장 까다로운 난임 분야에서 점유율 1위 마리아병원의 예약 CRM을 구축해 운영에 올렸습니다.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66928" y="5120640"/>
            <a:ext cx="11057839" cy="12802"/>
          </a:xfrm>
          <a:prstGeom prst="rect">
            <a:avLst/>
          </a:prstGeom>
          <a:solidFill>
            <a:srgbClr val="1E4463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5358384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40" kern="0" dirty="0">
                <a:solidFill>
                  <a:srgbClr val="6E8C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사업 소개서 · 2026 · Rev. 1.0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3A73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요약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31520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가지만 기억해 주십시오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2048256"/>
            <a:ext cx="3417722" cy="3529584"/>
          </a:xfrm>
          <a:prstGeom prst="rect">
            <a:avLst/>
          </a:prstGeom>
          <a:solidFill>
            <a:srgbClr val="FFFFFF"/>
          </a:solidFill>
          <a:ln w="9525">
            <a:solidFill>
              <a:srgbClr val="DFE3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7824" y="228600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73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77824" y="2670048"/>
            <a:ext cx="279593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1118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까다로운 예약부터 검증했습니다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77824" y="3529584"/>
            <a:ext cx="279593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5A68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난임 진료는 환자의 주기가 일정을 정하고, 이틀 간격으로 반복 내원하며, 시술 슬롯이 의료진과 시술실을 함께 묶습니다. 그 구조를 마리아병원에서 실제 운영에 올렸습니다.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877824" y="4791456"/>
            <a:ext cx="2795930" cy="10973"/>
          </a:xfrm>
          <a:prstGeom prst="rect">
            <a:avLst/>
          </a:prstGeom>
          <a:solidFill>
            <a:srgbClr val="DFE3E9"/>
          </a:solidFill>
          <a:ln/>
        </p:spPr>
      </p:sp>
      <p:sp>
        <p:nvSpPr>
          <p:cNvPr id="9" name="Text 7"/>
          <p:cNvSpPr/>
          <p:nvPr/>
        </p:nvSpPr>
        <p:spPr>
          <a:xfrm>
            <a:off x="877824" y="4901184"/>
            <a:ext cx="279593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b="1" dirty="0">
                <a:solidFill>
                  <a:srgbClr val="183C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 진료과의 예약 규칙은 이 구조의 부분집합입니다.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86986" y="2048256"/>
            <a:ext cx="3417722" cy="3529584"/>
          </a:xfrm>
          <a:prstGeom prst="rect">
            <a:avLst/>
          </a:prstGeom>
          <a:solidFill>
            <a:srgbClr val="FFFFFF"/>
          </a:solidFill>
          <a:ln w="9525">
            <a:solidFill>
              <a:srgbClr val="DFE3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97882" y="228600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73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97882" y="2670048"/>
            <a:ext cx="279593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1118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진료과가 달라도 손실이 나는 자리는 같습니다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97882" y="3529584"/>
            <a:ext cx="279593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5A68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전화가 예약의 기본 경로이고, 잡힌 예약의 일부는 오지 않으며, 끊긴 재방문은 신호 없이 사라집니다. 다섯 개 병목 모두 장부에 비용으로 잡히지 않습니다.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697882" y="4791456"/>
            <a:ext cx="2795930" cy="10973"/>
          </a:xfrm>
          <a:prstGeom prst="rect">
            <a:avLst/>
          </a:prstGeom>
          <a:solidFill>
            <a:srgbClr val="DFE3E9"/>
          </a:solidFill>
          <a:ln/>
        </p:spPr>
      </p:sp>
      <p:sp>
        <p:nvSpPr>
          <p:cNvPr id="15" name="Text 13"/>
          <p:cNvSpPr/>
          <p:nvPr/>
        </p:nvSpPr>
        <p:spPr>
          <a:xfrm>
            <a:off x="4697882" y="4901184"/>
            <a:ext cx="279593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b="1" dirty="0">
                <a:solidFill>
                  <a:srgbClr val="183C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AI를 새 기능이 아니라 그 다섯 지점에 직접 붙입니다.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207045" y="2048256"/>
            <a:ext cx="3417722" cy="3529584"/>
          </a:xfrm>
          <a:prstGeom prst="rect">
            <a:avLst/>
          </a:prstGeom>
          <a:solidFill>
            <a:srgbClr val="FFFFFF"/>
          </a:solidFill>
          <a:ln w="9525">
            <a:solidFill>
              <a:srgbClr val="DFE3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17941" y="228600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73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517941" y="2670048"/>
            <a:ext cx="279593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1118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구축비 부담을 덜어냈습니다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517941" y="3529584"/>
            <a:ext cx="279593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5A68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초기 구축비를 최소화하고 월 구독료로 나눠 받습니다. 도입 첫해에 목돈이 나가지 않는 구조입니다.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517941" y="4791456"/>
            <a:ext cx="2795930" cy="10973"/>
          </a:xfrm>
          <a:prstGeom prst="rect">
            <a:avLst/>
          </a:prstGeom>
          <a:solidFill>
            <a:srgbClr val="DFE3E9"/>
          </a:solidFill>
          <a:ln/>
        </p:spPr>
      </p:sp>
      <p:sp>
        <p:nvSpPr>
          <p:cNvPr id="21" name="Text 19"/>
          <p:cNvSpPr/>
          <p:nvPr/>
        </p:nvSpPr>
        <p:spPr>
          <a:xfrm>
            <a:off x="8517941" y="4901184"/>
            <a:ext cx="279593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b="1" dirty="0">
                <a:solidFill>
                  <a:srgbClr val="183C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구축 100만원부터 · 월 59만원부터.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0984687" y="63093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8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3A73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진단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31520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진료과가 달라도, 손실이 나는 자리는 같습니다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408176"/>
            <a:ext cx="10058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A68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아래 다섯 가지는 정형외과든 피부과든 내과든 거의 예외 없이 발견됩니다. 문제는 이것들이 장부에 비용으로 잡히지 않는다는 점입니다.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2048256"/>
            <a:ext cx="11057839" cy="18288"/>
          </a:xfrm>
          <a:prstGeom prst="rect">
            <a:avLst/>
          </a:prstGeom>
          <a:solidFill>
            <a:srgbClr val="111820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19456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73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78992" y="2194560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8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예약의 기본 경로가 아직 전화입니다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791456" y="2194560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8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진료 시작 직후와 점심 직전에 통화가 몰립니다. 연결되지 않은 전화는 어디에도 남지 않습니다.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8540496" y="2212848"/>
            <a:ext cx="32004" cy="365760"/>
          </a:xfrm>
          <a:prstGeom prst="rect">
            <a:avLst/>
          </a:prstGeom>
          <a:solidFill>
            <a:srgbClr val="B23B26"/>
          </a:solidFill>
          <a:ln/>
        </p:spPr>
      </p:sp>
      <p:sp>
        <p:nvSpPr>
          <p:cNvPr id="10" name="Text 8"/>
          <p:cNvSpPr/>
          <p:nvPr/>
        </p:nvSpPr>
        <p:spPr>
          <a:xfrm>
            <a:off x="8668512" y="217627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B23B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보이지 않는 비용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8668512" y="235915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3A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놓친 통화는 집계되지 않습니다.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66928" y="2688336"/>
            <a:ext cx="11057839" cy="10973"/>
          </a:xfrm>
          <a:prstGeom prst="rect">
            <a:avLst/>
          </a:prstGeom>
          <a:solidFill>
            <a:srgbClr val="DFE3E9"/>
          </a:solidFill>
          <a:ln/>
        </p:spPr>
      </p:sp>
      <p:sp>
        <p:nvSpPr>
          <p:cNvPr id="13" name="Text 11"/>
          <p:cNvSpPr/>
          <p:nvPr/>
        </p:nvSpPr>
        <p:spPr>
          <a:xfrm>
            <a:off x="566928" y="2852928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73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78992" y="2852928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8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노쇼와 당일 취소가 빈자리로 남습니다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791456" y="2852928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8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대체 환자를 채우려면 누군가 전화를 돌려야 합니다. 바쁜 날일수록 그럴 여유가 없습니다.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540496" y="2871216"/>
            <a:ext cx="32004" cy="365760"/>
          </a:xfrm>
          <a:prstGeom prst="rect">
            <a:avLst/>
          </a:prstGeom>
          <a:solidFill>
            <a:srgbClr val="B23B26"/>
          </a:solidFill>
          <a:ln/>
        </p:spPr>
      </p:sp>
      <p:sp>
        <p:nvSpPr>
          <p:cNvPr id="17" name="Text 15"/>
          <p:cNvSpPr/>
          <p:nvPr/>
        </p:nvSpPr>
        <p:spPr>
          <a:xfrm>
            <a:off x="8668512" y="283464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B23B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회복 불가 매출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8668512" y="301752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3A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지나간 시간대는 되팔 수 없습니다.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66928" y="3346704"/>
            <a:ext cx="11057839" cy="10973"/>
          </a:xfrm>
          <a:prstGeom prst="rect">
            <a:avLst/>
          </a:prstGeom>
          <a:solidFill>
            <a:srgbClr val="DFE3E9"/>
          </a:solidFill>
          <a:ln/>
        </p:spPr>
      </p:sp>
      <p:sp>
        <p:nvSpPr>
          <p:cNvPr id="20" name="Text 18"/>
          <p:cNvSpPr/>
          <p:nvPr/>
        </p:nvSpPr>
        <p:spPr>
          <a:xfrm>
            <a:off x="566928" y="3511296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73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78992" y="3511296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8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재방문이 조용히 끊깁니다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791456" y="3511296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8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치료 회차가 남았는데 오지 않는 환자, 검진 시기가 지난 환자. 항의 없이 그냥 사라집니다.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540496" y="3529584"/>
            <a:ext cx="32004" cy="365760"/>
          </a:xfrm>
          <a:prstGeom prst="rect">
            <a:avLst/>
          </a:prstGeom>
          <a:solidFill>
            <a:srgbClr val="B23B26"/>
          </a:solidFill>
          <a:ln/>
        </p:spPr>
      </p:sp>
      <p:sp>
        <p:nvSpPr>
          <p:cNvPr id="24" name="Text 22"/>
          <p:cNvSpPr/>
          <p:nvPr/>
        </p:nvSpPr>
        <p:spPr>
          <a:xfrm>
            <a:off x="8668512" y="349300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B23B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생애가치 손실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8668512" y="3675888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3A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 유치가 재방문 유도보다 비쌉니다.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66928" y="4005072"/>
            <a:ext cx="11057839" cy="10973"/>
          </a:xfrm>
          <a:prstGeom prst="rect">
            <a:avLst/>
          </a:prstGeom>
          <a:solidFill>
            <a:srgbClr val="DFE3E9"/>
          </a:solidFill>
          <a:ln/>
        </p:spPr>
      </p:sp>
      <p:sp>
        <p:nvSpPr>
          <p:cNvPr id="27" name="Text 25"/>
          <p:cNvSpPr/>
          <p:nvPr/>
        </p:nvSpPr>
        <p:spPr>
          <a:xfrm>
            <a:off x="566928" y="4169664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73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78992" y="4169664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8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일정 하나가 바뀌면 수십 건이 흔들립니다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4791456" y="4169664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8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학회·수술·휴가로 진료 시간이 바뀔 때마다 손으로 옮기고 일일이 연락합니다.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540496" y="4187952"/>
            <a:ext cx="32004" cy="365760"/>
          </a:xfrm>
          <a:prstGeom prst="rect">
            <a:avLst/>
          </a:prstGeom>
          <a:solidFill>
            <a:srgbClr val="B23B26"/>
          </a:solidFill>
          <a:ln/>
        </p:spPr>
      </p:sp>
      <p:sp>
        <p:nvSpPr>
          <p:cNvPr id="31" name="Text 29"/>
          <p:cNvSpPr/>
          <p:nvPr/>
        </p:nvSpPr>
        <p:spPr>
          <a:xfrm>
            <a:off x="8668512" y="4151376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B23B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리스크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8668512" y="4334256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3A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재배치 실수는 현장에서 드러납니다.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66928" y="4663440"/>
            <a:ext cx="11057839" cy="10973"/>
          </a:xfrm>
          <a:prstGeom prst="rect">
            <a:avLst/>
          </a:prstGeom>
          <a:solidFill>
            <a:srgbClr val="DFE3E9"/>
          </a:solidFill>
          <a:ln/>
        </p:spPr>
      </p:sp>
      <p:sp>
        <p:nvSpPr>
          <p:cNvPr id="34" name="Text 32"/>
          <p:cNvSpPr/>
          <p:nvPr/>
        </p:nvSpPr>
        <p:spPr>
          <a:xfrm>
            <a:off x="566928" y="4828032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73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078992" y="4828032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8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예약과 차트를 따로 입력합니다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4791456" y="4828032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8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옮겨 적는 사이에 빠지는 건이 생기고, 통계는 월말에 손으로 셉니다.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8540496" y="4846320"/>
            <a:ext cx="32004" cy="365760"/>
          </a:xfrm>
          <a:prstGeom prst="rect">
            <a:avLst/>
          </a:prstGeom>
          <a:solidFill>
            <a:srgbClr val="B23B26"/>
          </a:solidFill>
          <a:ln/>
        </p:spPr>
      </p:sp>
      <p:sp>
        <p:nvSpPr>
          <p:cNvPr id="38" name="Text 36"/>
          <p:cNvSpPr/>
          <p:nvPr/>
        </p:nvSpPr>
        <p:spPr>
          <a:xfrm>
            <a:off x="8668512" y="4809744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B23B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신뢰도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8668512" y="4992624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3A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지표가 실시간이 아닙니다.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566928" y="5321808"/>
            <a:ext cx="11057839" cy="10973"/>
          </a:xfrm>
          <a:prstGeom prst="rect">
            <a:avLst/>
          </a:prstGeom>
          <a:solidFill>
            <a:srgbClr val="DFE3E9"/>
          </a:solidFill>
          <a:ln/>
        </p:spPr>
      </p:sp>
      <p:sp>
        <p:nvSpPr>
          <p:cNvPr id="41" name="Text 39"/>
          <p:cNvSpPr/>
          <p:nvPr/>
        </p:nvSpPr>
        <p:spPr>
          <a:xfrm>
            <a:off x="10984687" y="63093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8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23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7FB6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레퍼런스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31520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까다로운 예약부터 만들었습니다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408176"/>
            <a:ext cx="10058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A9C4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난임 진료의 예약 규칙은 국내 진료과 가운데 가장 복잡한 축에 듭니다. 그 시스템을 설계·구축해 실제 운영에 올렸습니다.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2157984"/>
            <a:ext cx="3381146" cy="1700784"/>
          </a:xfrm>
          <a:prstGeom prst="rect">
            <a:avLst/>
          </a:prstGeom>
          <a:solidFill>
            <a:srgbClr val="11314C"/>
          </a:solidFill>
          <a:ln/>
        </p:spPr>
      </p:sp>
      <p:sp>
        <p:nvSpPr>
          <p:cNvPr id="6" name="Text 4"/>
          <p:cNvSpPr/>
          <p:nvPr/>
        </p:nvSpPr>
        <p:spPr>
          <a:xfrm>
            <a:off x="859536" y="2359152"/>
            <a:ext cx="279593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몸이 날짜를 정합니다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59536" y="2743200"/>
            <a:ext cx="279593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A9C4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주기가 시작되면 2~3일 안에 내원해야 합니다. 환자가 “언제 오실 수 있나요”에 답하는 구조가 아닙니다.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405274" y="2157984"/>
            <a:ext cx="3381146" cy="1700784"/>
          </a:xfrm>
          <a:prstGeom prst="rect">
            <a:avLst/>
          </a:prstGeom>
          <a:solidFill>
            <a:srgbClr val="11314C"/>
          </a:solidFill>
          <a:ln/>
        </p:spPr>
      </p:sp>
      <p:sp>
        <p:nvSpPr>
          <p:cNvPr id="9" name="Text 7"/>
          <p:cNvSpPr/>
          <p:nvPr/>
        </p:nvSpPr>
        <p:spPr>
          <a:xfrm>
            <a:off x="4697882" y="2359152"/>
            <a:ext cx="279593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이틀 간격으로 반복됩니다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697882" y="2743200"/>
            <a:ext cx="279593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A9C4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배란 모니터링 구간에는 하루 이틀 간격으로 다시 옵니다. 한 주기에 평균 5~8회 내원합니다.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243621" y="2157984"/>
            <a:ext cx="3381146" cy="1700784"/>
          </a:xfrm>
          <a:prstGeom prst="rect">
            <a:avLst/>
          </a:prstGeom>
          <a:solidFill>
            <a:srgbClr val="11314C"/>
          </a:solidFill>
          <a:ln/>
        </p:spPr>
      </p:sp>
      <p:sp>
        <p:nvSpPr>
          <p:cNvPr id="12" name="Text 10"/>
          <p:cNvSpPr/>
          <p:nvPr/>
        </p:nvSpPr>
        <p:spPr>
          <a:xfrm>
            <a:off x="8536229" y="2359152"/>
            <a:ext cx="279593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시술 슬롯이 자원을 묶습니다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536229" y="2743200"/>
            <a:ext cx="279593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A9C4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채취·이식은 의료진과 시술실이 함께 잡힙니다. 한 건의 노쇼가 그날 전체의 공백이 됩니다.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66928" y="4151376"/>
            <a:ext cx="9692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FB6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 진료과의 예약 규칙은 이 구조의 부분집합입니다. 어려운 쪽을 먼저 만들었기 때문에, 진료과를 옮길 때 새로 만들 것이 적습니다.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66928" y="4791456"/>
            <a:ext cx="11057839" cy="12802"/>
          </a:xfrm>
          <a:prstGeom prst="rect">
            <a:avLst/>
          </a:prstGeom>
          <a:solidFill>
            <a:srgbClr val="1E4463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5029200"/>
            <a:ext cx="2028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20" kern="0" dirty="0">
                <a:solidFill>
                  <a:srgbClr val="6E8C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납품 · 운영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66928" y="5285232"/>
            <a:ext cx="2028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마리아병원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2778496" y="5029200"/>
            <a:ext cx="2028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20" kern="0" dirty="0">
                <a:solidFill>
                  <a:srgbClr val="6E8C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동시 운영 지점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778496" y="5285232"/>
            <a:ext cx="2028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3곳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4990064" y="5029200"/>
            <a:ext cx="2028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20" kern="0" dirty="0">
                <a:solidFill>
                  <a:srgbClr val="6E8C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엔드포인트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990064" y="5285232"/>
            <a:ext cx="2028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56개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7201632" y="5029200"/>
            <a:ext cx="2028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20" kern="0" dirty="0">
                <a:solidFill>
                  <a:srgbClr val="6E8C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알림톡 시나리오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7201632" y="5285232"/>
            <a:ext cx="2028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7종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9413199" y="5029200"/>
            <a:ext cx="2028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20" kern="0" dirty="0">
                <a:solidFill>
                  <a:srgbClr val="6E8C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 리전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9413199" y="5285232"/>
            <a:ext cx="2028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서울 ICN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10984687" y="63093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8C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3A73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레퍼런스 · 구현 범위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31520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운영 중인 코어 기능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408176"/>
            <a:ext cx="10058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A68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아래 전부가 신규 병원 도입 시 그대로 제공됩니다. 개념 검증이나 데모가 아니라 환자·데스크·의료진이 매일 쓰는 화면과 API입니다.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103120"/>
          <a:ext cx="11057839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7498080"/>
                <a:gridCol w="1365199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spc="120" kern="0" dirty="0">
                          <a:solidFill>
                            <a:srgbClr val="8B98A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영역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0" marR="101600" marT="50800" marB="508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7780" cap="flat" cmpd="sng" algn="ctr">
                      <a:solidFill>
                        <a:srgbClr val="111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spc="120" kern="0" dirty="0">
                          <a:solidFill>
                            <a:srgbClr val="8B98A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구현 내용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0" marR="101600" marT="50800" marB="508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7780" cap="flat" cmpd="sng" algn="ctr">
                      <a:solidFill>
                        <a:srgbClr val="111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spc="120" kern="0" dirty="0">
                          <a:solidFill>
                            <a:srgbClr val="8B98A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상태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0" marR="101600" marT="50800" marB="508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7780" cap="flat" cmpd="sng" algn="ctr">
                      <a:solidFill>
                        <a:srgbClr val="111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118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환자 예약 웹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F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E3A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카카오 로그인 &amp; 본인인증, 의료진별 예약, 가능 날짜 캘린더, 조회·변경·취소, 진료 이력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F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운영 중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F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118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데스크 관리자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F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E3A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실시간 대시보드, 대리 예약, 환자 관리, 당일 현황, 전날 변경 브리핑, 기간별 통계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F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운영 중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F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118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의료진 스케줄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F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E3A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요일 템플릿, 휴진·단축·시간대 차단 예외일, 시간대별 예약 정원, 타임라인 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F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운영 중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F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118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변경 승인 흐름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F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E3A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의료진 변경·휴진 요청을 관리자가 승인·반려 — 사유와 이력이 남는 결재 구조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F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운영 중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F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118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카카오 알림톡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F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E3A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확정·변경·취소·거절, 1일 전 / 당일 리마인더, 상태 변경 — 7종 및 발송 로그·재발송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F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운영 중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F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118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EMR 등록 관리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F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E3A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예약 건별 반영 여부·시각·처리자 기록, 미등록 건 필터 — 이중 입력 누락 방지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F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운영 중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F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118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운영 안정성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F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E3A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야간 배치로 4주치 슬롯 사전 계산, 변경 횟수 제한, 감사 로그, 환자·관리자 도메인 분리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F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운영 중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F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66928" y="5705856"/>
            <a:ext cx="1023487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8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 구성: Next.js · TypeScript · PostgreSQL · Prisma, 서울(ICN) 리전 배포. 진료량이 많은 병원의 조회 부하를 전제로 슬롯 계산을 사전 배치화했습니다.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10984687" y="63093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8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3A73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적용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31520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진료과마다 다른 것은 예약의 ‘모양’입니다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408176"/>
            <a:ext cx="10058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A68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예약 엔진·스케줄·알림·통계는 공통입니다. 달라지는 것은 한 번의 진료가 몇 회에 걸쳐 이어지는가, 무엇이 자원을 묶는가입니다.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2139696"/>
            <a:ext cx="3381146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DFE3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" y="2322576"/>
            <a:ext cx="279593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118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정형외과 · 재활의학과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59536" y="2633472"/>
            <a:ext cx="279593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A73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 예약이 기본 단위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59536" y="2962656"/>
            <a:ext cx="279593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5A68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도수치료·물리치료는 주 2~3회를 몇 주간 같은 시간대로 잡습니다. 한 건씩 예약하면 데스크도 환자도 지칩니다.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59536" y="3950208"/>
            <a:ext cx="2795930" cy="10973"/>
          </a:xfrm>
          <a:prstGeom prst="rect">
            <a:avLst/>
          </a:prstGeom>
          <a:solidFill>
            <a:srgbClr val="DFE3E9"/>
          </a:solidFill>
          <a:ln/>
        </p:spPr>
      </p:sp>
      <p:sp>
        <p:nvSpPr>
          <p:cNvPr id="10" name="Text 8"/>
          <p:cNvSpPr/>
          <p:nvPr/>
        </p:nvSpPr>
        <p:spPr>
          <a:xfrm>
            <a:off x="859536" y="404164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8B98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대응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859536" y="4261104"/>
            <a:ext cx="279593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2E3A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회차 예약을 한 번에 생성하고 치료사별로 자원을 분리해 배정합니다. 회차가 끝나갈 때 연장 안내를 자동 발송합니다.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405274" y="2139696"/>
            <a:ext cx="3381146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DFE3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97882" y="2322576"/>
            <a:ext cx="279593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118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피부과 · 성형외과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4697882" y="2633472"/>
            <a:ext cx="279593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A73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상담과 시술이 분리된 흐름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697882" y="2962656"/>
            <a:ext cx="279593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5A68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상담과 시술의 소요 시간이 다르고, 시술 후 경과 관찰 시점을 놓치면 재방문이 끊깁니다.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97882" y="3950208"/>
            <a:ext cx="2795930" cy="10973"/>
          </a:xfrm>
          <a:prstGeom prst="rect">
            <a:avLst/>
          </a:prstGeom>
          <a:solidFill>
            <a:srgbClr val="DFE3E9"/>
          </a:solidFill>
          <a:ln/>
        </p:spPr>
      </p:sp>
      <p:sp>
        <p:nvSpPr>
          <p:cNvPr id="17" name="Text 15"/>
          <p:cNvSpPr/>
          <p:nvPr/>
        </p:nvSpPr>
        <p:spPr>
          <a:xfrm>
            <a:off x="4697882" y="404164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8B98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대응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697882" y="4261104"/>
            <a:ext cx="279593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2E3A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예약 종류별로 슬롯 길이를 다르게 잡고, 시술일 기준으로 경과 관찰 리콜을 자동 예약합니다. 패키지 잔여 회차를 표시합니다.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243621" y="2139696"/>
            <a:ext cx="3381146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DFE3E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36229" y="2322576"/>
            <a:ext cx="279593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118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내과 · 검진센터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8536229" y="2633472"/>
            <a:ext cx="279593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A73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항목에 따라 시간이 다름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536229" y="2962656"/>
            <a:ext cx="279593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5A68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검진과 내시경 포함 검진은 소요 시간과 준비사항이 전혀 다릅니다. 준비를 안 하고 오면 그날 검사가 무산됩니다.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536229" y="3950208"/>
            <a:ext cx="2795930" cy="10973"/>
          </a:xfrm>
          <a:prstGeom prst="rect">
            <a:avLst/>
          </a:prstGeom>
          <a:solidFill>
            <a:srgbClr val="DFE3E9"/>
          </a:solidFill>
          <a:ln/>
        </p:spPr>
      </p:sp>
      <p:sp>
        <p:nvSpPr>
          <p:cNvPr id="24" name="Text 22"/>
          <p:cNvSpPr/>
          <p:nvPr/>
        </p:nvSpPr>
        <p:spPr>
          <a:xfrm>
            <a:off x="8536229" y="404164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8B98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대응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8536229" y="4261104"/>
            <a:ext cx="279593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2E3A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항목 조합에 따라 슬롯 길이를 자동 산출하고, 금식·복약 중단 안내를 시점에 맞춰 발송합니다. 사전 문진을 예약 단계에서 받습니다.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984687" y="63093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8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3A73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적용 · 계속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31520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치과 · 산부인과 · 소아청소년과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2139696"/>
            <a:ext cx="3381146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DFE3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9536" y="2322576"/>
            <a:ext cx="279593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118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치과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859536" y="2633472"/>
            <a:ext cx="279593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A73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치료 계획이 곧 예약 계획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59536" y="2962656"/>
            <a:ext cx="279593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5A68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임플란트·교정은 몇 달에 걸친 회차 진료입니다. 중간에 한 번 끊기면 계획 전체가 늘어집니다.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59536" y="3950208"/>
            <a:ext cx="2795930" cy="10973"/>
          </a:xfrm>
          <a:prstGeom prst="rect">
            <a:avLst/>
          </a:prstGeom>
          <a:solidFill>
            <a:srgbClr val="DFE3E9"/>
          </a:solidFill>
          <a:ln/>
        </p:spPr>
      </p:sp>
      <p:sp>
        <p:nvSpPr>
          <p:cNvPr id="9" name="Text 7"/>
          <p:cNvSpPr/>
          <p:nvPr/>
        </p:nvSpPr>
        <p:spPr>
          <a:xfrm>
            <a:off x="859536" y="404164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8B98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대응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59536" y="4261104"/>
            <a:ext cx="279593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2E3A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치료 계획 단계별로 다음 예약을 제안하고, 정기 스케일링 대상자를 주기적으로 추출해 리콜합니다.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405274" y="2139696"/>
            <a:ext cx="3381146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DFE3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97882" y="2322576"/>
            <a:ext cx="279593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118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산부인과 · 난임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4697882" y="2633472"/>
            <a:ext cx="279593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A73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몸이 날짜를 정함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697882" y="2962656"/>
            <a:ext cx="279593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5A68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주기 시작 시점이 예약을 결정하고, 모니터링은 하루 이틀 간격으로 반복됩니다. 마리아병원에서 검증된 영역입니다.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97882" y="3950208"/>
            <a:ext cx="2795930" cy="10973"/>
          </a:xfrm>
          <a:prstGeom prst="rect">
            <a:avLst/>
          </a:prstGeom>
          <a:solidFill>
            <a:srgbClr val="DFE3E9"/>
          </a:solidFill>
          <a:ln/>
        </p:spPr>
      </p:sp>
      <p:sp>
        <p:nvSpPr>
          <p:cNvPr id="16" name="Text 14"/>
          <p:cNvSpPr/>
          <p:nvPr/>
        </p:nvSpPr>
        <p:spPr>
          <a:xfrm>
            <a:off x="4697882" y="404164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8B98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대응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697882" y="4261104"/>
            <a:ext cx="279593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2E3A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주기 단계별 예약 규칙, 다음 내원 시점 예측 리콜, 시술 슬롯 우선 배정을 그대로 제공합니다.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243621" y="2139696"/>
            <a:ext cx="3381146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DFE3E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36229" y="2322576"/>
            <a:ext cx="279593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118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소아청소년과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8536229" y="2633472"/>
            <a:ext cx="279593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A73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보호자가 예약하고 아이가 옴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536229" y="2962656"/>
            <a:ext cx="279593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5A68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예방접종은 백신별로 다음 접종일이 정해져 있는데, 그 관리가 대부분 보호자 기억에 맡겨져 있습니다.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536229" y="3950208"/>
            <a:ext cx="2795930" cy="10973"/>
          </a:xfrm>
          <a:prstGeom prst="rect">
            <a:avLst/>
          </a:prstGeom>
          <a:solidFill>
            <a:srgbClr val="DFE3E9"/>
          </a:solidFill>
          <a:ln/>
        </p:spPr>
      </p:sp>
      <p:sp>
        <p:nvSpPr>
          <p:cNvPr id="23" name="Text 21"/>
          <p:cNvSpPr/>
          <p:nvPr/>
        </p:nvSpPr>
        <p:spPr>
          <a:xfrm>
            <a:off x="8536229" y="404164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8B98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대응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8536229" y="4261104"/>
            <a:ext cx="279593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2E3A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접종 이력 기준으로 다음 접종 시기를 산출해 안내하고, 형제 자매를 한 계정에서 함께 관리합니다.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66928" y="5541264"/>
            <a:ext cx="10234879" cy="566928"/>
          </a:xfrm>
          <a:prstGeom prst="rect">
            <a:avLst/>
          </a:prstGeom>
          <a:solidFill>
            <a:srgbClr val="EAF0F6"/>
          </a:solidFill>
          <a:ln/>
        </p:spPr>
      </p:sp>
      <p:sp>
        <p:nvSpPr>
          <p:cNvPr id="26" name="Text 24"/>
          <p:cNvSpPr/>
          <p:nvPr/>
        </p:nvSpPr>
        <p:spPr>
          <a:xfrm>
            <a:off x="841248" y="5541264"/>
            <a:ext cx="96862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83C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 항목은 설정과 템플릿으로 대응하는 범위입니다. 진료과 고유의 별도 개발이 필요한 요건은 사전 진단에서 구분해 드리고, 개발 범위와 비용을 따로 명시합니다 — 되는 것과 안 되는 것을 계약 전에 문서로 나누는 것이 저희 방식입니다.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0984687" y="63093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8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3A73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제안 · AI 레이어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31520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AI는 새 기능이 아니라, 앞의 다섯 병목에 붙입니다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408176"/>
            <a:ext cx="10058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A68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모듈은 예약·진료 데이터가 쌓이는 기존 코어를 근거로 동작합니다. 별도 데이터 구축 없이 도입 즉시 학습을 시작하고, 병원이 필요한 모듈만 켜고 끕니다.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121408"/>
          <a:ext cx="11057839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7315200"/>
                <a:gridCol w="1365199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spc="120" kern="0" dirty="0">
                          <a:solidFill>
                            <a:srgbClr val="8B98A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모듈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0" marR="101600" marT="50800" marB="508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7780" cap="flat" cmpd="sng" algn="ctr">
                      <a:solidFill>
                        <a:srgbClr val="111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spc="120" kern="0" dirty="0">
                          <a:solidFill>
                            <a:srgbClr val="8B98A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하는 일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0" marR="101600" marT="50800" marB="508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7780" cap="flat" cmpd="sng" algn="ctr">
                      <a:solidFill>
                        <a:srgbClr val="111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spc="120" kern="0" dirty="0">
                          <a:solidFill>
                            <a:srgbClr val="8B98A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대응 병목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0" marR="101600" marT="50800" marB="508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7780" cap="flat" cmpd="sng" algn="ctr">
                      <a:solidFill>
                        <a:srgbClr val="111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118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노쇼 예측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F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E3A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예약 이력·리드타임·요일·취소 패턴으로 건별 노쇼 확률을 산출하고 고위험 예약에 확인 알림을 발송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F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73A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02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F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118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공실 슬롯 대체 배정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F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E3A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취소가 나면 대기 명단에서 조건이 맞는 환자를 골라 즉시 제안. 데스크는 승인만 함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F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73A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02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F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118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24시간 예약 상담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F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E3A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카카오·웹에서 자연어로 예약·변경·조회. 사람이 잡은 예약과 동일한 규칙이 적용됨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F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73A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01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F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118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재방문 리콜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F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E3A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진료 유형별로 다음 내원 시점을 예측해 그 전에 안내. 환자가 잊기 전에 병원이 먼저 도달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F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73A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01, 03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F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118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이탈 예측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F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E3A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재방문이 끊긴 환자를 자동 식별하고 위험도로 우선순위를 매겨 데스크에 전달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F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73A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03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F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118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스케줄 자동 재배치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F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E3A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의료진 일정이 바뀌면 영향받는 예약을 산출하고 대체 슬롯을 제안. 승인 시 알림까지 일괄 발송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F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73A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04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F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118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상담 통화 자동 기록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F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E3A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데스크 통화를 텍스트로 옮기고 요약해 환자 카드에 첨부. 후속 조치를 담당자에게 배정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F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73A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01, 05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F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118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자연어 경영 대시보드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F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E3A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“지난달 노쇼율이 가장 높은 시간대는?”처럼 물으면 집계와 차트로 답함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F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73A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05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F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10984687" y="63093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8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3A73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성과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31520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산출식을 열어둘 테니, 병원 숫자를 넣어 보십시오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408176"/>
            <a:ext cx="10058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A68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“노쇼 40% 감소” 같은 문구를 앞세우지 않습니다. 병원마다 편차가 너무 큽니다. 대신 계산 방식을 전부 공개합니다. 입력값은 사전 진단에서 귀 병원 실측치로 대체됩니다.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139696"/>
          <a:ext cx="11057839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3291840"/>
                <a:gridCol w="1883664"/>
                <a:gridCol w="1883664"/>
                <a:gridCol w="1895551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spc="100" kern="0" dirty="0">
                          <a:solidFill>
                            <a:srgbClr val="8B98A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효과 항목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0" marR="101600" marT="50800" marB="508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7780" cap="flat" cmpd="sng" algn="ctr">
                      <a:solidFill>
                        <a:srgbClr val="111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spc="100" kern="0" dirty="0">
                          <a:solidFill>
                            <a:srgbClr val="8B98A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산출식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0" marR="101600" marT="50800" marB="508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7780" cap="flat" cmpd="sng" algn="ctr">
                      <a:solidFill>
                        <a:srgbClr val="111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spc="100" kern="0" dirty="0">
                          <a:solidFill>
                            <a:srgbClr val="8B98A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의원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r" indent="0" marL="0">
                        <a:buNone/>
                      </a:pPr>
                      <a:r>
                        <a:rPr lang="en-US" sz="900" b="1" spc="100" kern="0" dirty="0">
                          <a:solidFill>
                            <a:srgbClr val="8B98A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2인 · 월 800건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0" marR="101600" marT="50800" marB="508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7780" cap="flat" cmpd="sng" algn="ctr">
                      <a:solidFill>
                        <a:srgbClr val="111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spc="100" kern="0" dirty="0">
                          <a:solidFill>
                            <a:srgbClr val="8B98A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중형병원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r" indent="0" marL="0">
                        <a:buNone/>
                      </a:pPr>
                      <a:r>
                        <a:rPr lang="en-US" sz="900" b="1" spc="100" kern="0" dirty="0">
                          <a:solidFill>
                            <a:srgbClr val="8B98A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8인 · 월 3,000건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0" marR="101600" marT="50800" marB="508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7780" cap="flat" cmpd="sng" algn="ctr">
                      <a:solidFill>
                        <a:srgbClr val="111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spc="100" kern="0" dirty="0">
                          <a:solidFill>
                            <a:srgbClr val="8B98A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종합병원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r" indent="0" marL="0">
                        <a:buNone/>
                      </a:pPr>
                      <a:r>
                        <a:rPr lang="en-US" sz="900" b="1" spc="100" kern="0" dirty="0">
                          <a:solidFill>
                            <a:srgbClr val="8B98A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20인 · 월 8,000건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0" marR="101600" marT="50800" marB="508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7780" cap="flat" cmpd="sng" algn="ctr">
                      <a:solidFill>
                        <a:srgbClr val="1118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118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노쇼 감소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F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A687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예약수 × 노쇼율 × 감소율 × 건당 진료수익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F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1118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144만원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F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1118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864만원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F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1118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2,304만원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F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118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공실 슬롯 회복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F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A687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월 공실 슬롯 × 대체 배정률 × 슬롯 기여수익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F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1118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36만원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F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1118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300만원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F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1118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720만원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F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118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데스크 콜 절감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F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A687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월 콜수 × 셀프 전환율 × 처리시간 × 인건비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F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1118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26만원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F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1118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97만원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F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1118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264만원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F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118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재방문 회복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F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A687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이탈 위험군 × 리콜 반응률 × 건당 수익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F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1118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23만원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F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1118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96만원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F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1118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240만원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F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118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합계 (이론치)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C3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5A687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4개 항목 단순 합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C3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1118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229만원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C3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1118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1,357만원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C3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1118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3,528만원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C3D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118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보수 반영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F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5A687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합계 × 달성률 50%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F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1118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115만원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F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1118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679만원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F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1118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1,764만원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F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118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차감 — 월 비용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F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5A687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구독료 + 발송 실비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F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B23B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−62만원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F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B23B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−261만원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F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B23B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−482만원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F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83C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월 순효과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F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83C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보수 반영 − 월 비용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F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183C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53만원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F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183C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418만원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F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183C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1,282만원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F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66928" y="5705856"/>
            <a:ext cx="1023487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A68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예시 입력값은 가정치이며 특정 병원의 실적이 아닙니다. 노쇼율 12%, 감소율 30%, 셀프 예약 전환 40%를 공통 가정으로 두고 건당 수익만 규모별로 달리했습니다. 마리아병원의 실측 운영 수치는 그 병원의 자산이므로 공개하지 않습니다.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10984687" y="63093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8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3A73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성과 · 회수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31520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규모가 클수록 회수가 빠릅니다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408176"/>
            <a:ext cx="10058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A68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구축비를 낮춘 구조라 회수 기간 자체는 짧습니다. 실제로 중요한 것은 매달 반복되는 순효과입니다.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2103120"/>
            <a:ext cx="3417722" cy="1572768"/>
          </a:xfrm>
          <a:prstGeom prst="rect">
            <a:avLst/>
          </a:prstGeom>
          <a:solidFill>
            <a:srgbClr val="FFFFFF"/>
          </a:solidFill>
          <a:ln w="9525">
            <a:solidFill>
              <a:srgbClr val="DFE3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" y="2249424"/>
            <a:ext cx="283250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8B98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의원 · 2인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59536" y="2505456"/>
            <a:ext cx="283250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83C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53</a:t>
            </a:r>
            <a:pPr indent="0" marL="0">
              <a:buNone/>
            </a:pPr>
            <a:r>
              <a:rPr lang="en-US" sz="1400" b="1" dirty="0">
                <a:solidFill>
                  <a:srgbClr val="183C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만원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859536" y="2999232"/>
            <a:ext cx="283250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3A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구축비 100만원을 약 2개월에 회수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59536" y="3236976"/>
            <a:ext cx="283250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8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1년 누적 순증 536만원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86986" y="2103120"/>
            <a:ext cx="3417722" cy="1572768"/>
          </a:xfrm>
          <a:prstGeom prst="rect">
            <a:avLst/>
          </a:prstGeom>
          <a:solidFill>
            <a:srgbClr val="FFFFFF"/>
          </a:solidFill>
          <a:ln w="9525">
            <a:solidFill>
              <a:srgbClr val="DFE3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79594" y="2249424"/>
            <a:ext cx="283250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8B98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중형병원 · 8인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679594" y="2505456"/>
            <a:ext cx="283250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83C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418</a:t>
            </a:r>
            <a:pPr indent="0" marL="0">
              <a:buNone/>
            </a:pPr>
            <a:r>
              <a:rPr lang="en-US" sz="1400" b="1" dirty="0">
                <a:solidFill>
                  <a:srgbClr val="183C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만원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4679594" y="2999232"/>
            <a:ext cx="283250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3A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구축비 500만원을 약 2개월에 회수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679594" y="3236976"/>
            <a:ext cx="283250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8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1년 누적 순증 4,516만원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207045" y="2103120"/>
            <a:ext cx="3417722" cy="1572768"/>
          </a:xfrm>
          <a:prstGeom prst="rect">
            <a:avLst/>
          </a:prstGeom>
          <a:solidFill>
            <a:srgbClr val="EAF0F6"/>
          </a:solidFill>
          <a:ln/>
        </p:spPr>
      </p:sp>
      <p:sp>
        <p:nvSpPr>
          <p:cNvPr id="16" name="Text 14"/>
          <p:cNvSpPr/>
          <p:nvPr/>
        </p:nvSpPr>
        <p:spPr>
          <a:xfrm>
            <a:off x="8499653" y="2249424"/>
            <a:ext cx="283250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8B98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종합병원 · 20인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499653" y="2505456"/>
            <a:ext cx="283250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83C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1,282</a:t>
            </a:r>
            <a:pPr indent="0" marL="0">
              <a:buNone/>
            </a:pPr>
            <a:r>
              <a:rPr lang="en-US" sz="1400" b="1" dirty="0">
                <a:solidFill>
                  <a:srgbClr val="183C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만원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8499653" y="2999232"/>
            <a:ext cx="283250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3A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구축비 1,000만원을 1개월 이내 회수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499653" y="3236976"/>
            <a:ext cx="283250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8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1년 누적 순증 1억 4,384만원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66928" y="4059936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8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도입 후에는 같은 지표를 같은 방식으로 재측정합니다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566928" y="4407408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8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도입 첫 달을 기준선으로 고정하고 분기마다 실측값을 리포트로 제출합니다. 측정 방식을 계약서에 함께 적습니다.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66928" y="4882896"/>
            <a:ext cx="201168" cy="32004"/>
          </a:xfrm>
          <a:prstGeom prst="rect">
            <a:avLst/>
          </a:prstGeom>
          <a:solidFill>
            <a:srgbClr val="3A73A8"/>
          </a:solidFill>
          <a:ln/>
        </p:spPr>
      </p:sp>
      <p:sp>
        <p:nvSpPr>
          <p:cNvPr id="23" name="Text 21"/>
          <p:cNvSpPr/>
          <p:nvPr/>
        </p:nvSpPr>
        <p:spPr>
          <a:xfrm>
            <a:off x="566928" y="4974336"/>
            <a:ext cx="166009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노쇼율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66928" y="5248656"/>
            <a:ext cx="1660093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A68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예약 대비 미방문 비율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409901" y="4882896"/>
            <a:ext cx="201168" cy="32004"/>
          </a:xfrm>
          <a:prstGeom prst="rect">
            <a:avLst/>
          </a:prstGeom>
          <a:solidFill>
            <a:srgbClr val="3A73A8"/>
          </a:solidFill>
          <a:ln/>
        </p:spPr>
      </p:sp>
      <p:sp>
        <p:nvSpPr>
          <p:cNvPr id="26" name="Text 24"/>
          <p:cNvSpPr/>
          <p:nvPr/>
        </p:nvSpPr>
        <p:spPr>
          <a:xfrm>
            <a:off x="2409901" y="4974336"/>
            <a:ext cx="166009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셀프 예약 비중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409901" y="5248656"/>
            <a:ext cx="1660093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A68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웹·카카오 경유 비율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252874" y="4882896"/>
            <a:ext cx="201168" cy="32004"/>
          </a:xfrm>
          <a:prstGeom prst="rect">
            <a:avLst/>
          </a:prstGeom>
          <a:solidFill>
            <a:srgbClr val="3A73A8"/>
          </a:solidFill>
          <a:ln/>
        </p:spPr>
      </p:sp>
      <p:sp>
        <p:nvSpPr>
          <p:cNvPr id="29" name="Text 27"/>
          <p:cNvSpPr/>
          <p:nvPr/>
        </p:nvSpPr>
        <p:spPr>
          <a:xfrm>
            <a:off x="4252874" y="4974336"/>
            <a:ext cx="166009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슬롯 가동률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252874" y="5248656"/>
            <a:ext cx="1660093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A68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개설 대비 실제 진료 건수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095848" y="4882896"/>
            <a:ext cx="201168" cy="32004"/>
          </a:xfrm>
          <a:prstGeom prst="rect">
            <a:avLst/>
          </a:prstGeom>
          <a:solidFill>
            <a:srgbClr val="3A73A8"/>
          </a:solidFill>
          <a:ln/>
        </p:spPr>
      </p:sp>
      <p:sp>
        <p:nvSpPr>
          <p:cNvPr id="32" name="Text 30"/>
          <p:cNvSpPr/>
          <p:nvPr/>
        </p:nvSpPr>
        <p:spPr>
          <a:xfrm>
            <a:off x="6095848" y="4974336"/>
            <a:ext cx="166009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재방문율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095848" y="5248656"/>
            <a:ext cx="1660093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A68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권장 기간 내 복귀 비율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938821" y="4882896"/>
            <a:ext cx="201168" cy="32004"/>
          </a:xfrm>
          <a:prstGeom prst="rect">
            <a:avLst/>
          </a:prstGeom>
          <a:solidFill>
            <a:srgbClr val="3A73A8"/>
          </a:solidFill>
          <a:ln/>
        </p:spPr>
      </p:sp>
      <p:sp>
        <p:nvSpPr>
          <p:cNvPr id="35" name="Text 33"/>
          <p:cNvSpPr/>
          <p:nvPr/>
        </p:nvSpPr>
        <p:spPr>
          <a:xfrm>
            <a:off x="7938821" y="4974336"/>
            <a:ext cx="166009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건당 처리 시간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938821" y="5248656"/>
            <a:ext cx="1660093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A68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데스크 1건 처리 소요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9781794" y="4882896"/>
            <a:ext cx="201168" cy="32004"/>
          </a:xfrm>
          <a:prstGeom prst="rect">
            <a:avLst/>
          </a:prstGeom>
          <a:solidFill>
            <a:srgbClr val="3A73A8"/>
          </a:solidFill>
          <a:ln/>
        </p:spPr>
      </p:sp>
      <p:sp>
        <p:nvSpPr>
          <p:cNvPr id="38" name="Text 36"/>
          <p:cNvSpPr/>
          <p:nvPr/>
        </p:nvSpPr>
        <p:spPr>
          <a:xfrm>
            <a:off x="9781794" y="4974336"/>
            <a:ext cx="166009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정합성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9781794" y="5248656"/>
            <a:ext cx="1660093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A68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EMR 미반영 건수 추이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0984687" y="63093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8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3A73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도입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31520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표준 10주 — 대부분은 개발이 아니라 설정입니다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408176"/>
            <a:ext cx="10058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A68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코어가 완성되어 있으므로 기간의 대부분은 귀 병원의 진료 규칙을 시스템에 옮기는 작업에 쓰입니다. 병원 총 투입은 약 32시간입니다.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115568" y="202996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8B98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2377440" y="202996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8B98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754880" y="202996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8B98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작업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540496" y="2029968"/>
            <a:ext cx="3081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8B98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병원 측 투입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66928" y="2286000"/>
            <a:ext cx="11057839" cy="18288"/>
          </a:xfrm>
          <a:prstGeom prst="rect">
            <a:avLst/>
          </a:prstGeom>
          <a:solidFill>
            <a:srgbClr val="111820"/>
          </a:solidFill>
          <a:ln/>
        </p:spPr>
      </p:sp>
      <p:sp>
        <p:nvSpPr>
          <p:cNvPr id="10" name="Text 8"/>
          <p:cNvSpPr/>
          <p:nvPr/>
        </p:nvSpPr>
        <p:spPr>
          <a:xfrm>
            <a:off x="566928" y="2432304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73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2432304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A68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– 2주차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377440" y="2432304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진단 &amp; 요건 확정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754880" y="2432304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8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현행 예약·상담 흐름 관찰, 진료과별 예약 유형 정리, EMR 환경 확인, 기준 지표 측정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540496" y="2432304"/>
            <a:ext cx="30815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A73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원무팀장 주 4시간 · 대표원장 60분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66928" y="2944368"/>
            <a:ext cx="11057839" cy="10973"/>
          </a:xfrm>
          <a:prstGeom prst="rect">
            <a:avLst/>
          </a:prstGeom>
          <a:solidFill>
            <a:srgbClr val="DFE3E9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2999232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73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15568" y="2999232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A68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– 5주차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377440" y="2999232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구축 &amp; 맞춤 설정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754880" y="2999232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8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전용 인스턴스 생성, 의료진·진료 유형·슬롯 규칙 설정, 브랜드 적용, 도메인 연결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540496" y="2999232"/>
            <a:ext cx="30815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A73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진료 시간표 확정본 · 검수 90분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66928" y="3511296"/>
            <a:ext cx="11057839" cy="10973"/>
          </a:xfrm>
          <a:prstGeom prst="rect">
            <a:avLst/>
          </a:prstGeom>
          <a:solidFill>
            <a:srgbClr val="DFE3E9"/>
          </a:solidFill>
          <a:ln/>
        </p:spPr>
      </p:sp>
      <p:sp>
        <p:nvSpPr>
          <p:cNvPr id="22" name="Text 20"/>
          <p:cNvSpPr/>
          <p:nvPr/>
        </p:nvSpPr>
        <p:spPr>
          <a:xfrm>
            <a:off x="566928" y="356616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73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15568" y="3566160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A68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– 6주차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377440" y="3566160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알림톡 &amp; 채널 연동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754880" y="3566160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8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카카오 채널 개설, 템플릿 등록·심사, 본인인증 연동, 발송 시나리오 검증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540496" y="3566160"/>
            <a:ext cx="30815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A73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사업자등록증 · 문구 검수 1회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66928" y="4078224"/>
            <a:ext cx="11057839" cy="10973"/>
          </a:xfrm>
          <a:prstGeom prst="rect">
            <a:avLst/>
          </a:prstGeom>
          <a:solidFill>
            <a:srgbClr val="DFE3E9"/>
          </a:solidFill>
          <a:ln/>
        </p:spPr>
      </p:sp>
      <p:sp>
        <p:nvSpPr>
          <p:cNvPr id="28" name="Text 26"/>
          <p:cNvSpPr/>
          <p:nvPr/>
        </p:nvSpPr>
        <p:spPr>
          <a:xfrm>
            <a:off x="566928" y="4133088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73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115568" y="4133088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A68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– 8주차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2377440" y="4133088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모듈 적용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754880" y="4133088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8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과거 예약 데이터 이관 후 예측 기준선 학습, 우선순위 높은 모듈부터 순차 활성화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8540496" y="4133088"/>
            <a:ext cx="30815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A73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최근 6개월 예약·방문 이력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66928" y="4645152"/>
            <a:ext cx="11057839" cy="10973"/>
          </a:xfrm>
          <a:prstGeom prst="rect">
            <a:avLst/>
          </a:prstGeom>
          <a:solidFill>
            <a:srgbClr val="DFE3E9"/>
          </a:solidFill>
          <a:ln/>
        </p:spPr>
      </p:sp>
      <p:sp>
        <p:nvSpPr>
          <p:cNvPr id="34" name="Text 32"/>
          <p:cNvSpPr/>
          <p:nvPr/>
        </p:nvSpPr>
        <p:spPr>
          <a:xfrm>
            <a:off x="566928" y="4700016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73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115568" y="4700016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A68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– 8주차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2377440" y="4700016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 &amp; 병행 운영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754880" y="4700016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8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실사용자 교육 후 기존 방식과 2주 병행 운영, 전환 리스크 제거, 피드백 반영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8540496" y="4700016"/>
            <a:ext cx="30815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A73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데스크 전원 2시간 × 2회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566928" y="5212080"/>
            <a:ext cx="11057839" cy="10973"/>
          </a:xfrm>
          <a:prstGeom prst="rect">
            <a:avLst/>
          </a:prstGeom>
          <a:solidFill>
            <a:srgbClr val="DFE3E9"/>
          </a:solidFill>
          <a:ln/>
        </p:spPr>
      </p:sp>
      <p:sp>
        <p:nvSpPr>
          <p:cNvPr id="40" name="Text 38"/>
          <p:cNvSpPr/>
          <p:nvPr/>
        </p:nvSpPr>
        <p:spPr>
          <a:xfrm>
            <a:off x="566928" y="5266944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73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1115568" y="5266944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A68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– 10주차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2377440" y="5266944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정식 오픈 &amp; 안정화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4754880" y="5266944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8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전면 전환, 초기 2주 밀착 대응, 지표 리포트 체계 가동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8540496" y="5266944"/>
            <a:ext cx="30815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A73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오픈 당일 원무팀 입회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566928" y="5779008"/>
            <a:ext cx="11057839" cy="10973"/>
          </a:xfrm>
          <a:prstGeom prst="rect">
            <a:avLst/>
          </a:prstGeom>
          <a:solidFill>
            <a:srgbClr val="DFE3E9"/>
          </a:solidFill>
          <a:ln/>
        </p:spPr>
      </p:sp>
      <p:sp>
        <p:nvSpPr>
          <p:cNvPr id="46" name="Shape 44"/>
          <p:cNvSpPr/>
          <p:nvPr/>
        </p:nvSpPr>
        <p:spPr>
          <a:xfrm>
            <a:off x="566928" y="5797296"/>
            <a:ext cx="10234879" cy="548640"/>
          </a:xfrm>
          <a:prstGeom prst="rect">
            <a:avLst/>
          </a:prstGeom>
          <a:solidFill>
            <a:srgbClr val="EAF0F6"/>
          </a:solidFill>
          <a:ln/>
        </p:spPr>
      </p:sp>
      <p:sp>
        <p:nvSpPr>
          <p:cNvPr id="47" name="Text 45"/>
          <p:cNvSpPr/>
          <p:nvPr/>
        </p:nvSpPr>
        <p:spPr>
          <a:xfrm>
            <a:off x="841248" y="5797296"/>
            <a:ext cx="96862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83C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EMR 연계나 진료과 전용 개발이 포함되면 4주가 추가됩니다   ·   기존 방식과 2주 병행 후 전환하므로 오픈일에 예약이 멈추지 않습니다   ·   5주차 검수에서 요건 불일치 시 위약금 없이 중단할 수 있습니다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10984687" y="63093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8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3A73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31520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보안 및 컴플라이언스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408176"/>
            <a:ext cx="10058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A68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진료 정보는 가장 민감한 개인정보에 속합니다. 기술적 조치와 운영 규칙을 함께 설계하고 계약서에 명시합니다.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2249424"/>
            <a:ext cx="219456" cy="32004"/>
          </a:xfrm>
          <a:prstGeom prst="rect">
            <a:avLst/>
          </a:prstGeom>
          <a:solidFill>
            <a:srgbClr val="3A73A8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340864"/>
            <a:ext cx="319826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8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국내 리전 보관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566928" y="2724912"/>
            <a:ext cx="319826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5A68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데이터베이스와 애플리케이션 모두 국내(서울) 리전에서 운영합니다. 환자 정보는 국외로 이전되지 않습니다.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405274" y="2249424"/>
            <a:ext cx="219456" cy="32004"/>
          </a:xfrm>
          <a:prstGeom prst="rect">
            <a:avLst/>
          </a:prstGeom>
          <a:solidFill>
            <a:srgbClr val="3A73A8"/>
          </a:solidFill>
          <a:ln/>
        </p:spPr>
      </p:sp>
      <p:sp>
        <p:nvSpPr>
          <p:cNvPr id="9" name="Text 7"/>
          <p:cNvSpPr/>
          <p:nvPr/>
        </p:nvSpPr>
        <p:spPr>
          <a:xfrm>
            <a:off x="4405274" y="2340864"/>
            <a:ext cx="319826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8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병원별 데이터 분리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405274" y="2724912"/>
            <a:ext cx="319826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5A68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병원마다 독립 데이터베이스·독립 도메인으로 구축합니다. 타 병원과 데이터가 공유되는 구조가 아닙니다.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243621" y="2249424"/>
            <a:ext cx="219456" cy="32004"/>
          </a:xfrm>
          <a:prstGeom prst="rect">
            <a:avLst/>
          </a:prstGeom>
          <a:solidFill>
            <a:srgbClr val="3A73A8"/>
          </a:solidFill>
          <a:ln/>
        </p:spPr>
      </p:sp>
      <p:sp>
        <p:nvSpPr>
          <p:cNvPr id="12" name="Text 10"/>
          <p:cNvSpPr/>
          <p:nvPr/>
        </p:nvSpPr>
        <p:spPr>
          <a:xfrm>
            <a:off x="8243621" y="2340864"/>
            <a:ext cx="319826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8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접근 권한 &amp; 감사 로그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8243621" y="2724912"/>
            <a:ext cx="319826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5A68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 기반 권한 분리, 환자 정보 조회·변경 이력 기록. 누가 언제 무엇을 바꿨는지 추적됩니다.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66928" y="4023360"/>
            <a:ext cx="219456" cy="32004"/>
          </a:xfrm>
          <a:prstGeom prst="rect">
            <a:avLst/>
          </a:prstGeom>
          <a:solidFill>
            <a:srgbClr val="3A73A8"/>
          </a:solidFill>
          <a:ln/>
        </p:spPr>
      </p:sp>
      <p:sp>
        <p:nvSpPr>
          <p:cNvPr id="15" name="Text 13"/>
          <p:cNvSpPr/>
          <p:nvPr/>
        </p:nvSpPr>
        <p:spPr>
          <a:xfrm>
            <a:off x="566928" y="4114800"/>
            <a:ext cx="319826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8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학습 데이터 통제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566928" y="4498848"/>
            <a:ext cx="319826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5A68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환자 데이터는 외부 모델의 학습에 사용되지 않습니다. AI 처리 시 식별정보는 최소화해 전달합니다.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405274" y="4023360"/>
            <a:ext cx="219456" cy="32004"/>
          </a:xfrm>
          <a:prstGeom prst="rect">
            <a:avLst/>
          </a:prstGeom>
          <a:solidFill>
            <a:srgbClr val="3A73A8"/>
          </a:solidFill>
          <a:ln/>
        </p:spPr>
      </p:sp>
      <p:sp>
        <p:nvSpPr>
          <p:cNvPr id="18" name="Text 16"/>
          <p:cNvSpPr/>
          <p:nvPr/>
        </p:nvSpPr>
        <p:spPr>
          <a:xfrm>
            <a:off x="4405274" y="4114800"/>
            <a:ext cx="319826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8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본인인증 기반 접근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4405274" y="4498848"/>
            <a:ext cx="319826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5A68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환자 예약 조회는 휴대폰 또는 카카오 인증을 거칩니다. 이름·생년월일만으로 타인 예약이 조회되지 않습니다.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243621" y="4023360"/>
            <a:ext cx="219456" cy="32004"/>
          </a:xfrm>
          <a:prstGeom prst="rect">
            <a:avLst/>
          </a:prstGeom>
          <a:solidFill>
            <a:srgbClr val="3A73A8"/>
          </a:solidFill>
          <a:ln/>
        </p:spPr>
      </p:sp>
      <p:sp>
        <p:nvSpPr>
          <p:cNvPr id="21" name="Text 19"/>
          <p:cNvSpPr/>
          <p:nvPr/>
        </p:nvSpPr>
        <p:spPr>
          <a:xfrm>
            <a:off x="8243621" y="4114800"/>
            <a:ext cx="319826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8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백업 &amp; 복구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8243621" y="4498848"/>
            <a:ext cx="319826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5A68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일일 자동 백업과 시점 복구를 운영하며, 장애 대응 절차와 연락 체계를 계약에 명시합니다.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10984687" y="63093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8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3A73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비용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31520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구축비는 최소화하고, 월 구독료로 나눠 받습니다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408176"/>
            <a:ext cx="10058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A68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도입 첫해에 목돈이 나가지 않도록 한 구조이고 그 대신 최소 약정 기간을 둡니다. 구간은 동시 진료 의료진 수로만 나뉘며 월 예약 건수에 따른 추가 과금은 없습니다.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2084832"/>
            <a:ext cx="2490140" cy="3529584"/>
          </a:xfrm>
          <a:prstGeom prst="rect">
            <a:avLst/>
          </a:prstGeom>
          <a:solidFill>
            <a:srgbClr val="FFFFFF"/>
          </a:solidFill>
          <a:ln w="9525">
            <a:solidFill>
              <a:srgbClr val="DFE3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249424"/>
            <a:ext cx="19780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Lite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596896"/>
            <a:ext cx="19780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A73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구축 100만원 · 1회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22960" y="2871216"/>
            <a:ext cx="19780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83C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 59</a:t>
            </a:r>
            <a:pPr indent="0" marL="0">
              <a:buNone/>
            </a:pPr>
            <a:r>
              <a:rPr lang="en-US" sz="1300" b="1" dirty="0">
                <a:solidFill>
                  <a:srgbClr val="183C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만원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822960" y="3310128"/>
            <a:ext cx="19780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A68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의료진 1–2인 · 의원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22960" y="3767328"/>
            <a:ext cx="1978076" cy="10973"/>
          </a:xfrm>
          <a:prstGeom prst="rect">
            <a:avLst/>
          </a:prstGeom>
          <a:solidFill>
            <a:srgbClr val="DFE3E9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877056"/>
            <a:ext cx="1978076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E3A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환자 예약 웹 &amp; 데스크 관리자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E3A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의료진 스케줄 &amp; 예외일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E3A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카카오 알림톡 7종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E3A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통계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E3A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평일 09–18시 지원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422828" y="2084832"/>
            <a:ext cx="2490140" cy="3529584"/>
          </a:xfrm>
          <a:prstGeom prst="rect">
            <a:avLst/>
          </a:prstGeom>
          <a:solidFill>
            <a:srgbClr val="FFFFFF"/>
          </a:solidFill>
          <a:ln w="9525">
            <a:solidFill>
              <a:srgbClr val="DFE3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78860" y="2249424"/>
            <a:ext cx="19780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Core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78860" y="2596896"/>
            <a:ext cx="19780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A73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구축 250만원 · 1회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678860" y="2871216"/>
            <a:ext cx="19780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83C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 119</a:t>
            </a:r>
            <a:pPr indent="0" marL="0">
              <a:buNone/>
            </a:pPr>
            <a:r>
              <a:rPr lang="en-US" sz="1300" b="1" dirty="0">
                <a:solidFill>
                  <a:srgbClr val="183C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만원</a:t>
            </a:r>
            <a:endParaRPr lang="en-US" sz="2500" dirty="0"/>
          </a:p>
        </p:txBody>
      </p:sp>
      <p:sp>
        <p:nvSpPr>
          <p:cNvPr id="16" name="Text 14"/>
          <p:cNvSpPr/>
          <p:nvPr/>
        </p:nvSpPr>
        <p:spPr>
          <a:xfrm>
            <a:off x="3678860" y="3310128"/>
            <a:ext cx="19780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A68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의료진 3–5인 · 중소 병원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78860" y="3767328"/>
            <a:ext cx="1978076" cy="10973"/>
          </a:xfrm>
          <a:prstGeom prst="rect">
            <a:avLst/>
          </a:prstGeom>
          <a:solidFill>
            <a:srgbClr val="DFE3E9"/>
          </a:solidFill>
          <a:ln/>
        </p:spPr>
      </p:sp>
      <p:sp>
        <p:nvSpPr>
          <p:cNvPr id="18" name="Text 16"/>
          <p:cNvSpPr/>
          <p:nvPr/>
        </p:nvSpPr>
        <p:spPr>
          <a:xfrm>
            <a:off x="3678860" y="3877056"/>
            <a:ext cx="1978076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E3A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Lite 전체 포함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E3A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변경·취소 승인 흐름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E3A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진료 유형별 슬롯 설정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E3A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노쇼 예측 &amp; 확인 발송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E3A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EMR 등록 관리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278728" y="2084832"/>
            <a:ext cx="2490140" cy="3529584"/>
          </a:xfrm>
          <a:prstGeom prst="rect">
            <a:avLst/>
          </a:prstGeom>
          <a:solidFill>
            <a:srgbClr val="EAF0F6"/>
          </a:solidFill>
          <a:ln/>
        </p:spPr>
      </p:sp>
      <p:sp>
        <p:nvSpPr>
          <p:cNvPr id="20" name="Text 18"/>
          <p:cNvSpPr/>
          <p:nvPr/>
        </p:nvSpPr>
        <p:spPr>
          <a:xfrm>
            <a:off x="6534760" y="2249424"/>
            <a:ext cx="19780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3C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Smart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854467" y="2286000"/>
            <a:ext cx="640080" cy="256032"/>
          </a:xfrm>
          <a:prstGeom prst="rect">
            <a:avLst/>
          </a:prstGeom>
          <a:solidFill>
            <a:srgbClr val="EAF0F6"/>
          </a:solidFill>
          <a:ln w="9525">
            <a:solidFill>
              <a:srgbClr val="C3D5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854467" y="22860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A73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권장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534760" y="2596896"/>
            <a:ext cx="19780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A73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구축 500만원 · 1회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534760" y="2871216"/>
            <a:ext cx="19780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83C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 249</a:t>
            </a:r>
            <a:pPr indent="0" marL="0">
              <a:buNone/>
            </a:pPr>
            <a:r>
              <a:rPr lang="en-US" sz="1300" b="1" dirty="0">
                <a:solidFill>
                  <a:srgbClr val="183C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만원</a:t>
            </a:r>
            <a:endParaRPr lang="en-US" sz="2500" dirty="0"/>
          </a:p>
        </p:txBody>
      </p:sp>
      <p:sp>
        <p:nvSpPr>
          <p:cNvPr id="25" name="Text 23"/>
          <p:cNvSpPr/>
          <p:nvPr/>
        </p:nvSpPr>
        <p:spPr>
          <a:xfrm>
            <a:off x="6534760" y="3310128"/>
            <a:ext cx="19780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A68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의료진 6–15인 · 노쇼와 콜 부하가 큰 병원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534760" y="3767328"/>
            <a:ext cx="1978076" cy="10973"/>
          </a:xfrm>
          <a:prstGeom prst="rect">
            <a:avLst/>
          </a:prstGeom>
          <a:solidFill>
            <a:srgbClr val="DFE3E9"/>
          </a:solidFill>
          <a:ln/>
        </p:spPr>
      </p:sp>
      <p:sp>
        <p:nvSpPr>
          <p:cNvPr id="27" name="Text 25"/>
          <p:cNvSpPr/>
          <p:nvPr/>
        </p:nvSpPr>
        <p:spPr>
          <a:xfrm>
            <a:off x="6534760" y="3877056"/>
            <a:ext cx="1978076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E3A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Core 전체 포함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E3A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공실 슬롯 대체 배정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E3A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24시간 AI 예약 상담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E3A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재방문 리콜 &amp; 이탈 예측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E3A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스케줄 자동 재배치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E3A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분기 성과 리포트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9134627" y="2084832"/>
            <a:ext cx="2490140" cy="3529584"/>
          </a:xfrm>
          <a:prstGeom prst="rect">
            <a:avLst/>
          </a:prstGeom>
          <a:solidFill>
            <a:srgbClr val="FFFFFF"/>
          </a:solidFill>
          <a:ln w="9525">
            <a:solidFill>
              <a:srgbClr val="DFE3E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390659" y="2249424"/>
            <a:ext cx="19780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Enterprise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390659" y="2596896"/>
            <a:ext cx="19780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A73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구축 1,000만원~ · 범위별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9390659" y="2871216"/>
            <a:ext cx="19780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83C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 450</a:t>
            </a:r>
            <a:pPr indent="0" marL="0">
              <a:buNone/>
            </a:pPr>
            <a:r>
              <a:rPr lang="en-US" sz="1300" b="1" dirty="0">
                <a:solidFill>
                  <a:srgbClr val="183C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만원~</a:t>
            </a:r>
            <a:endParaRPr lang="en-US" sz="2500" dirty="0"/>
          </a:p>
        </p:txBody>
      </p:sp>
      <p:sp>
        <p:nvSpPr>
          <p:cNvPr id="32" name="Text 30"/>
          <p:cNvSpPr/>
          <p:nvPr/>
        </p:nvSpPr>
        <p:spPr>
          <a:xfrm>
            <a:off x="9390659" y="3310128"/>
            <a:ext cx="19780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A68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의료진 16인 이상 · 다지점 또는 EMR 연계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9390659" y="3767328"/>
            <a:ext cx="1978076" cy="10973"/>
          </a:xfrm>
          <a:prstGeom prst="rect">
            <a:avLst/>
          </a:prstGeom>
          <a:solidFill>
            <a:srgbClr val="DFE3E9"/>
          </a:solidFill>
          <a:ln/>
        </p:spPr>
      </p:sp>
      <p:sp>
        <p:nvSpPr>
          <p:cNvPr id="34" name="Text 32"/>
          <p:cNvSpPr/>
          <p:nvPr/>
        </p:nvSpPr>
        <p:spPr>
          <a:xfrm>
            <a:off x="9390659" y="3877056"/>
            <a:ext cx="1978076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E3A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Smart 전체 포함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E3A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모듈 전체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E3A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EMR 연계 개발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E3A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지점 통합 대시보드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E3A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진료과 전용 기능 개발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E3A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전담 매니저 · 24시간 대응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66928" y="5760720"/>
            <a:ext cx="1023487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3A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실비 — 카카오 알림톡 건당 9원, 휴대폰 본인인증 건당 55원. 마진 없이 사용량 실비로 청구합니다 (월 예약 3,000건 기준 약 12만원).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66928" y="5998464"/>
            <a:ext cx="1023487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8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계약 — 최소 약정 24개월(구축비를 낮춘 대신). 구독료는 정식 오픈 다음 달부터 청구되며 구축 기간에는 발생하지 않습니다. 연 선납 10% · 24개월 선납 15% 할인. 부가세 별도.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10984687" y="63093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8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23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7FB6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단계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91440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계약보다 진단이 먼저입니다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66928" y="2103120"/>
            <a:ext cx="3381146" cy="1737360"/>
          </a:xfrm>
          <a:prstGeom prst="rect">
            <a:avLst/>
          </a:prstGeom>
          <a:solidFill>
            <a:srgbClr val="11314C"/>
          </a:solidFill>
          <a:ln/>
        </p:spPr>
      </p:sp>
      <p:sp>
        <p:nvSpPr>
          <p:cNvPr id="5" name="Text 3"/>
          <p:cNvSpPr/>
          <p:nvPr/>
        </p:nvSpPr>
        <p:spPr>
          <a:xfrm>
            <a:off x="877824" y="23042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FB6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" y="2633472"/>
            <a:ext cx="275935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무상 진단 · 60분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77824" y="2980944"/>
            <a:ext cx="275935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A9C4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예약·상담 흐름과 최근 3개월 예약 데이터를 함께 확인합니다.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405274" y="2103120"/>
            <a:ext cx="3381146" cy="1737360"/>
          </a:xfrm>
          <a:prstGeom prst="rect">
            <a:avLst/>
          </a:prstGeom>
          <a:solidFill>
            <a:srgbClr val="11314C"/>
          </a:solidFill>
          <a:ln/>
        </p:spPr>
      </p:sp>
      <p:sp>
        <p:nvSpPr>
          <p:cNvPr id="9" name="Text 7"/>
          <p:cNvSpPr/>
          <p:nvPr/>
        </p:nvSpPr>
        <p:spPr>
          <a:xfrm>
            <a:off x="4716170" y="23042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FB6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16170" y="2633472"/>
            <a:ext cx="275935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현황 리포트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716170" y="2980944"/>
            <a:ext cx="275935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A9C4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노쇼율 · 전화 인입량 · 슬롯 공실률 · 재방문율을 실제 숫자로 산출해 드립니다.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243621" y="2103120"/>
            <a:ext cx="3381146" cy="1737360"/>
          </a:xfrm>
          <a:prstGeom prst="rect">
            <a:avLst/>
          </a:prstGeom>
          <a:solidFill>
            <a:srgbClr val="11314C"/>
          </a:solidFill>
          <a:ln/>
        </p:spPr>
      </p:sp>
      <p:sp>
        <p:nvSpPr>
          <p:cNvPr id="13" name="Text 11"/>
          <p:cNvSpPr/>
          <p:nvPr/>
        </p:nvSpPr>
        <p:spPr>
          <a:xfrm>
            <a:off x="8554517" y="23042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FB6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554517" y="2633472"/>
            <a:ext cx="275935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전용 제안서 · 2주 내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554517" y="2980944"/>
            <a:ext cx="275935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A9C4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개선 목표치, 적용 모듈, 확정 견적, 상세 일정을 문서로 제출합니다.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66928" y="4059936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FB6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단계에서 도입이 실익이 없다고 판단되면 그렇게 말씀드립니다. 진단과 제안서 작성에는 비용이 발생하지 않습니다.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66928" y="4626864"/>
            <a:ext cx="11057839" cy="12802"/>
          </a:xfrm>
          <a:prstGeom prst="rect">
            <a:avLst/>
          </a:prstGeom>
          <a:solidFill>
            <a:srgbClr val="1E4463"/>
          </a:solidFill>
          <a:ln/>
        </p:spPr>
      </p:sp>
      <p:sp>
        <p:nvSpPr>
          <p:cNvPr id="18" name="Text 16"/>
          <p:cNvSpPr/>
          <p:nvPr/>
        </p:nvSpPr>
        <p:spPr>
          <a:xfrm>
            <a:off x="566928" y="4882896"/>
            <a:ext cx="24901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6E8C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회사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66928" y="5157216"/>
            <a:ext cx="24901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회사명 입력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422828" y="4882896"/>
            <a:ext cx="24901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6E8C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422828" y="5157216"/>
            <a:ext cx="24901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 / 직함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278728" y="4882896"/>
            <a:ext cx="24901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6E8C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연락처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278728" y="5157216"/>
            <a:ext cx="24901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010-0000-0000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134627" y="4882896"/>
            <a:ext cx="24901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6E8C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이메일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134627" y="5157216"/>
            <a:ext cx="24901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contact@example.com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566928" y="605332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E64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병원 스마트 AI CRM · 사업 소개서 · Rev. 1.0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병원 스마트 CRM 제안서</dc:title>
  <dc:subject>PptxGenJS Presentation</dc:subject>
  <dc:creator>병원 스마트 AI CRM</dc:creator>
  <cp:lastModifiedBy>병원 스마트 AI CRM</cp:lastModifiedBy>
  <cp:revision>1</cp:revision>
  <dcterms:created xsi:type="dcterms:W3CDTF">2026-09-02T10:08:09Z</dcterms:created>
  <dcterms:modified xsi:type="dcterms:W3CDTF">2026-09-02T10:08:09Z</dcterms:modified>
</cp:coreProperties>
</file>
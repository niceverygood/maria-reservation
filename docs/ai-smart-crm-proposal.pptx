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오프닝: 난임 진료 예약은 다른 진료과와 구조가 다르다는 점을 먼저 짚고, 마리아병원 납품 실적을 근거로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제안의 요약. 이 세 문장이 핵심이며 나머지는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제안 전체의 논리적 출발점입니다. 주기 구조를 이해시키면 이후 AI 모듈의 필요성이 자연스럽게 따라옵니다.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P1~P5는 이후 AI 모듈 슬라이드에서 각각 어떤 모듈이 대응하는지 다시 참조됩니다.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레퍼런스 슬라이드. 숫자는 모두 실제 구현 범위에서 나온 값이라는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각 모듈이 어느 병목을 푸는지 매핑을 보여주고, 다음 두 장에서 우선순위 높은 모듈을 상세히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과장된 수치를 제시하지 않는 것이 오히려 신뢰를 얻는 지점입니다.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연락처 4개 항목은 실제 정보로 교체해야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727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마리아병원 예약 CRM 구축 · 납품 기반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057400"/>
            <a:ext cx="9509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전문병원을 위한</a:t>
            </a:r>
            <a:endParaRPr lang="en-US" sz="47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7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스마트 CRM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66928" y="42245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진료는 날짜가 아니라 주기로 움직입니다.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난임 분야 1위 병원에서 검증된 예약 · CRM 코어 위에 AI 레이어를 얹어 제공합니다.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5943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엔드포인트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62656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62656" y="5943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화면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58384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58384" y="5943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알림톡 시나리오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54112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54112" y="5943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98687" y="5943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9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소개서 · Rev. 1.0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가지만 기억해 주십시오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38114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240280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50976" y="2852928"/>
            <a:ext cx="26130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난임은 예약 구조가 다릅니다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0976" y="3675888"/>
            <a:ext cx="26130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환자의 생리주기가 일정을 정합니다. 주기 시작 후 2~3일 내 내원, 배란 모니터링은 1~2일 간격 반복. 일반 예약 시스템이 다루지 못하는 구조입니다.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274" y="1874520"/>
            <a:ext cx="3381146" cy="3246120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4789322" y="2240280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1" name="Text 9"/>
          <p:cNvSpPr/>
          <p:nvPr/>
        </p:nvSpPr>
        <p:spPr>
          <a:xfrm>
            <a:off x="4789322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9322" y="2852928"/>
            <a:ext cx="26130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제안이 아니라 운영 중인 시스템입니다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9322" y="3675888"/>
            <a:ext cx="26130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마리아병원의 예약·CRM을 설계·구축해 실제 운영에 올렸습니다. 환자·데스크·의료진이 매일 쓰는 화면과 API로 이미 검증되어 있습니다.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43621" y="1874520"/>
            <a:ext cx="3381146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27669" y="2240280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6" name="Text 14"/>
          <p:cNvSpPr/>
          <p:nvPr/>
        </p:nvSpPr>
        <p:spPr>
          <a:xfrm>
            <a:off x="8627669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27669" y="2852928"/>
            <a:ext cx="26130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병목에만 붙입니다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27669" y="3675888"/>
            <a:ext cx="26130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늘리는 것이 아니라 전화 폭주·노쇼·이탈이라는 실제 비용 지점에 직접 연결합니다. 기존 데이터를 근거로 도입 즉시 동작합니다.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46811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계약이 아니라 무상 진단입니다. 귀 병원의 최근 3개월 예약 데이터로 노쇼율·전화 인입량·슬롯 공실률을 실제 숫자로 산출해 드립니다.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진료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진료 한 주기, 그리고 병원이 개입해야 하는 지점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주기에 환자는 평균 5~8회 내원합니다. 일반 예약 시스템은 이를 "새 예약 6건"으로 처리하지만, 난임 CRM은 하나의 주기로 다뤄야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88415" y="2999232"/>
            <a:ext cx="9214866" cy="0"/>
          </a:xfrm>
          <a:prstGeom prst="line">
            <a:avLst/>
          </a:prstGeom>
          <a:noFill/>
          <a:ln w="19050">
            <a:solidFill>
              <a:srgbClr val="BBD3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487168"/>
            <a:ext cx="18429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– D2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8687" y="2889504"/>
            <a:ext cx="219456" cy="219456"/>
          </a:xfrm>
          <a:prstGeom prst="ellipse">
            <a:avLst/>
          </a:prstGeom>
          <a:solidFill>
            <a:srgbClr val="0D5257"/>
          </a:solidFill>
          <a:ln w="25400">
            <a:solidFill>
              <a:srgbClr val="FBF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291840"/>
            <a:ext cx="184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시작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639312"/>
            <a:ext cx="1660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아침 전화가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몰리는 지점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1696669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1596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리콜 예측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09901" y="2487168"/>
            <a:ext cx="18429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– D5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1660" y="2889504"/>
            <a:ext cx="219456" cy="219456"/>
          </a:xfrm>
          <a:prstGeom prst="ellipse">
            <a:avLst/>
          </a:prstGeom>
          <a:solidFill>
            <a:srgbClr val="0D5257"/>
          </a:solidFill>
          <a:ln w="25400">
            <a:solidFill>
              <a:srgbClr val="FBF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9901" y="3291840"/>
            <a:ext cx="184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기초검사·과배란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1341" y="3639312"/>
            <a:ext cx="1660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검사·주사 일정이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다건 발생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83053" y="4315968"/>
            <a:ext cx="1696669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17" name="Text 15"/>
          <p:cNvSpPr/>
          <p:nvPr/>
        </p:nvSpPr>
        <p:spPr>
          <a:xfrm>
            <a:off x="2483053" y="431596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일괄 예약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52874" y="2487168"/>
            <a:ext cx="18429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 – D12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64633" y="2889504"/>
            <a:ext cx="219456" cy="219456"/>
          </a:xfrm>
          <a:prstGeom prst="ellipse">
            <a:avLst/>
          </a:prstGeom>
          <a:solidFill>
            <a:srgbClr val="0D5257"/>
          </a:solidFill>
          <a:ln w="25400">
            <a:solidFill>
              <a:srgbClr val="FBF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2874" y="3291840"/>
            <a:ext cx="184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배란 모니터링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4314" y="3639312"/>
            <a:ext cx="1660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1~2일 간격 반복,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변경 최다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26026" y="4315968"/>
            <a:ext cx="1696669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23" name="Text 21"/>
          <p:cNvSpPr/>
          <p:nvPr/>
        </p:nvSpPr>
        <p:spPr>
          <a:xfrm>
            <a:off x="4326026" y="431596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슬롯 재배치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95848" y="2487168"/>
            <a:ext cx="18429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D13 – D15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7606" y="2889504"/>
            <a:ext cx="219456" cy="219456"/>
          </a:xfrm>
          <a:prstGeom prst="ellipse">
            <a:avLst/>
          </a:prstGeom>
          <a:solidFill>
            <a:srgbClr val="8F6716"/>
          </a:solidFill>
          <a:ln w="25400">
            <a:solidFill>
              <a:srgbClr val="FBFA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5848" y="3291840"/>
            <a:ext cx="184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채취 · 시술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7288" y="3639312"/>
            <a:ext cx="1660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의료진·시술실이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묶이는 고단가 슬롯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9000" y="4315968"/>
            <a:ext cx="1696669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29" name="Text 27"/>
          <p:cNvSpPr/>
          <p:nvPr/>
        </p:nvSpPr>
        <p:spPr>
          <a:xfrm>
            <a:off x="6169000" y="431596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예측 우선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38821" y="2487168"/>
            <a:ext cx="18429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D16 – D19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50579" y="2889504"/>
            <a:ext cx="219456" cy="219456"/>
          </a:xfrm>
          <a:prstGeom prst="ellipse">
            <a:avLst/>
          </a:prstGeom>
          <a:solidFill>
            <a:srgbClr val="0D5257"/>
          </a:solidFill>
          <a:ln w="25400">
            <a:solidFill>
              <a:srgbClr val="FBFA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38821" y="3291840"/>
            <a:ext cx="184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30261" y="3639312"/>
            <a:ext cx="1660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 시 주기 전체가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영향을 받음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11973" y="4315968"/>
            <a:ext cx="1696669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35" name="Text 33"/>
          <p:cNvSpPr/>
          <p:nvPr/>
        </p:nvSpPr>
        <p:spPr>
          <a:xfrm>
            <a:off x="8011973" y="431596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승인 워크플로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781794" y="2487168"/>
            <a:ext cx="18429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D25 – D28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593553" y="2889504"/>
            <a:ext cx="219456" cy="219456"/>
          </a:xfrm>
          <a:prstGeom prst="ellipse">
            <a:avLst/>
          </a:prstGeom>
          <a:solidFill>
            <a:srgbClr val="0D5257"/>
          </a:solidFill>
          <a:ln w="25400">
            <a:solidFill>
              <a:srgbClr val="FBFA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1794" y="3291840"/>
            <a:ext cx="1842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873234" y="3639312"/>
            <a:ext cx="1660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재진입과 이탈이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갈리는 분기점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854946" y="4315968"/>
            <a:ext cx="1696669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41" name="Text 39"/>
          <p:cNvSpPr/>
          <p:nvPr/>
        </p:nvSpPr>
        <p:spPr>
          <a:xfrm>
            <a:off x="9854946" y="4315968"/>
            <a:ext cx="1696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예측 · 리텐션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6928" y="523036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금색으로 표시한 D13–D15 구간이 의료진과 시술실이 함께 묶이는 고단가 슬롯입니다. 한 건의 노쇼가 그날 스케줄 전체의 공백으로 남습니다.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운영 병목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구조에서 반복적으로 발생하는 다섯 가지 손실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0432" y="175564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전화 폭주와 콜 병목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70432" y="2139696"/>
            <a:ext cx="466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주기가 시작된 환자들이 같은 시간대에 몰립니다. 데스크 인력은 늘릴 수 없고, 연결되지 않은 환자는 그대로 이탈 위험군이 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4448" y="1810512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27952" y="1755648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노쇼로 인한 시술 슬롯 손실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27952" y="2139696"/>
            <a:ext cx="466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채취·이식 슬롯은 의료진과 시술실이 함께 묶이는 고단가 자원입니다. 대체 환자를 즉시 채우지 못하면 회복 불가능한 매출입니다.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3236976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스케줄 변동의 파급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70432" y="3621024"/>
            <a:ext cx="466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시술·학회로 진료 시간이 자주 바뀝니다. 변경 한 번에 수십 건을 손으로 재배치하고 연락해야 하며, 누락과 중복이 발생합니다.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4448" y="3291840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7952" y="3236976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중단 환자의 조용한 이탈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27952" y="3621024"/>
            <a:ext cx="466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판정 후 돌아오지 않는 환자는 아무 신호 없이 사라집니다. 재방문 시점을 놓치면 그대로 타 병원으로 갑니다.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773168"/>
            <a:ext cx="420624" cy="42062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4718304"/>
            <a:ext cx="469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EMR과 예약의 이중 입력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70432" y="5102352"/>
            <a:ext cx="466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예약과 차트를 따로 입력하는 과정에서 누락이 생깁니다. 지표는 실시간이 아니라 월말에 세어본 숫자가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4448" y="4718304"/>
            <a:ext cx="5300320" cy="1225296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25" name="Text 23"/>
          <p:cNvSpPr/>
          <p:nvPr/>
        </p:nvSpPr>
        <p:spPr>
          <a:xfrm>
            <a:off x="6653632" y="4901184"/>
            <a:ext cx="4641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모두 "사람을 더 뽑아서" 푸는 문제입니다.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레이어는 같은 인력으로 처리량과 도달률을 올리는 데 씁니다.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3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검증이 아니라, 병원에서 매일 돌아가는 시스템입니다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9875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난임 분야 점유율 1위 마리아병원의 예약 · CRM 시스템을 설계하고 구축해 운영에 올렸습니다.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병원 도입 시 이 코어가 그대로 시작점이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1918960" cy="1371600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706624"/>
            <a:ext cx="191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3364992"/>
            <a:ext cx="191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엔드포인트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1648" y="2542032"/>
            <a:ext cx="1918960" cy="1371600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9" name="Text 7"/>
          <p:cNvSpPr/>
          <p:nvPr/>
        </p:nvSpPr>
        <p:spPr>
          <a:xfrm>
            <a:off x="2851648" y="2706624"/>
            <a:ext cx="191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851648" y="3364992"/>
            <a:ext cx="191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화면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6368" y="2542032"/>
            <a:ext cx="1918960" cy="1371600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6368" y="2706624"/>
            <a:ext cx="191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136368" y="3364992"/>
            <a:ext cx="191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알림톡 시나리오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21088" y="2542032"/>
            <a:ext cx="1918960" cy="1371600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15" name="Text 13"/>
          <p:cNvSpPr/>
          <p:nvPr/>
        </p:nvSpPr>
        <p:spPr>
          <a:xfrm>
            <a:off x="7421088" y="2706624"/>
            <a:ext cx="191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421088" y="3364992"/>
            <a:ext cx="191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05807" y="2542032"/>
            <a:ext cx="1918960" cy="1371600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18" name="Text 16"/>
          <p:cNvSpPr/>
          <p:nvPr/>
        </p:nvSpPr>
        <p:spPr>
          <a:xfrm>
            <a:off x="9705807" y="2706624"/>
            <a:ext cx="191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ICN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705807" y="3364992"/>
            <a:ext cx="191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리전 배포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0599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수치는 실제 구축된 시스템의 구현 범위에서 산출한 값입니다.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2050633" cy="384048"/>
          </a:xfrm>
          <a:prstGeom prst="roundRect">
            <a:avLst>
              <a:gd name="adj" fmla="val 47619"/>
            </a:avLst>
          </a:prstGeom>
          <a:solidFill>
            <a:srgbClr val="0E4A4E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029200"/>
            <a:ext cx="20506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TypeScript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18729" y="5029200"/>
            <a:ext cx="2050633" cy="384048"/>
          </a:xfrm>
          <a:prstGeom prst="roundRect">
            <a:avLst>
              <a:gd name="adj" fmla="val 47619"/>
            </a:avLst>
          </a:prstGeom>
          <a:solidFill>
            <a:srgbClr val="0E4A4E"/>
          </a:solidFill>
          <a:ln/>
        </p:spPr>
      </p:sp>
      <p:sp>
        <p:nvSpPr>
          <p:cNvPr id="25" name="Text 23"/>
          <p:cNvSpPr/>
          <p:nvPr/>
        </p:nvSpPr>
        <p:spPr>
          <a:xfrm>
            <a:off x="2818729" y="5029200"/>
            <a:ext cx="20506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Prisma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0531" y="5029200"/>
            <a:ext cx="2050633" cy="384048"/>
          </a:xfrm>
          <a:prstGeom prst="roundRect">
            <a:avLst>
              <a:gd name="adj" fmla="val 47619"/>
            </a:avLst>
          </a:prstGeom>
          <a:solidFill>
            <a:srgbClr val="0E4A4E"/>
          </a:solidFill>
          <a:ln/>
        </p:spPr>
      </p:sp>
      <p:sp>
        <p:nvSpPr>
          <p:cNvPr id="27" name="Text 25"/>
          <p:cNvSpPr/>
          <p:nvPr/>
        </p:nvSpPr>
        <p:spPr>
          <a:xfrm>
            <a:off x="5070531" y="5029200"/>
            <a:ext cx="20506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서울(ICN) 리전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22332" y="5029200"/>
            <a:ext cx="2050633" cy="384048"/>
          </a:xfrm>
          <a:prstGeom prst="roundRect">
            <a:avLst>
              <a:gd name="adj" fmla="val 47619"/>
            </a:avLst>
          </a:prstGeom>
          <a:solidFill>
            <a:srgbClr val="0E4A4E"/>
          </a:solidFill>
          <a:ln/>
        </p:spPr>
      </p:sp>
      <p:sp>
        <p:nvSpPr>
          <p:cNvPr id="29" name="Text 27"/>
          <p:cNvSpPr/>
          <p:nvPr/>
        </p:nvSpPr>
        <p:spPr>
          <a:xfrm>
            <a:off x="7322332" y="5029200"/>
            <a:ext cx="20506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패턴별 인덱스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574134" y="5029200"/>
            <a:ext cx="2050633" cy="384048"/>
          </a:xfrm>
          <a:prstGeom prst="roundRect">
            <a:avLst>
              <a:gd name="adj" fmla="val 47619"/>
            </a:avLst>
          </a:prstGeom>
          <a:solidFill>
            <a:srgbClr val="0E4A4E"/>
          </a:solidFill>
          <a:ln/>
        </p:spPr>
      </p:sp>
      <p:sp>
        <p:nvSpPr>
          <p:cNvPr id="31" name="Text 29"/>
          <p:cNvSpPr/>
          <p:nvPr/>
        </p:nvSpPr>
        <p:spPr>
          <a:xfrm>
            <a:off x="9574134" y="5029200"/>
            <a:ext cx="20506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사전 계산 배치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7058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진료량이 많은 병원의 조회 부하를 전제로 슬롯 계산을 사전 배치화하여, 예약 화면이 피크 시간에도 즉시 응답하도록 설계했습니다.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· 구현 범위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운영 중인 코어 기능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전부가 신규 병원 도입 시 그대로 제공됩니다. 도입 기간의 대부분은 개발이 아니라 귀 병원의 진료 규칙을 반영하는 작업에 쓰입니다.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0553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86000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환자용 예약 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65176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로그인 · 휴대폰 본인인증, 의사별 예약, 가능 날짜 캘린더, 예약 조회 · 변경 · 취소, 진료 이력 — 모바일 우선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3082" y="2084832"/>
            <a:ext cx="340553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3978" y="2286000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관리자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3978" y="265176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대시보드, 예약 대리 등록, 환자 관리, 당일 현황, 전날 변경사항 브리핑, 기간별 통계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19237" y="2084832"/>
            <a:ext cx="340553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0133" y="2286000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스케줄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30133" y="265176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 템플릿, 휴진 · 특별 스케줄 예외, 시술시간 차단, 시간대별 예약 인원 설정, 타임라인 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340553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986784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요청 워크플로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4352544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의료진이 일정 변경 · 취소 · 휴진을 요청하면 관리자가 승인 또는 반려 — 처리 이력과 사유가 남는 결재 구조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3082" y="3785616"/>
            <a:ext cx="340553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3978" y="3986784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3978" y="4352544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확정 · 취소 · 거절 · 변경, 1일 전 및 당일 리마인더, 상태 변경 — 7종 시나리오와 발송 로그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19237" y="3785616"/>
            <a:ext cx="340553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0133" y="3986784"/>
            <a:ext cx="27837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등록 관리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30133" y="4352544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건별 반영 여부 · 시각 · 처리자 기록, 미등록 건 필터 — 이중 입력 누락 방지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56144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향후 4주치 예약 슬롯 야간 사전 계산, 실시간 동기화, 예약 변경 횟수 제한, 감사 로그, 환자 · 관리자 도메인 분리가 포함됩니다.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87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AI 레이어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코어 위에 올리는 AI 모듈 8종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새 기능으로 얹는 것이 아니라, 앞서 정리한 P1~P5의 병목 지점에 직접 붙입니다. 별도 데이터 구축 없이 기존 예약 데이터를 근거로 동작합니다.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40864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예측 &amp; 오버부킹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273552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9112" y="2139696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10" name="Text 8"/>
          <p:cNvSpPr/>
          <p:nvPr/>
        </p:nvSpPr>
        <p:spPr>
          <a:xfrm>
            <a:off x="3683432" y="2340864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83432" y="2651760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AI 예약 상담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3432" y="3273552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1296" y="2139696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14" name="Text 12"/>
          <p:cNvSpPr/>
          <p:nvPr/>
        </p:nvSpPr>
        <p:spPr>
          <a:xfrm>
            <a:off x="6525616" y="2340864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25616" y="2651760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기반 자동 리콜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25616" y="3273552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P1 · P4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93479" y="2139696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18" name="Text 16"/>
          <p:cNvSpPr/>
          <p:nvPr/>
        </p:nvSpPr>
        <p:spPr>
          <a:xfrm>
            <a:off x="9367799" y="2340864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67799" y="2651760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예측 &amp; 리텐션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67799" y="3273552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913632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14800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4425696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자동 재배치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5047488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09112" y="3913632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26" name="Text 24"/>
          <p:cNvSpPr/>
          <p:nvPr/>
        </p:nvSpPr>
        <p:spPr>
          <a:xfrm>
            <a:off x="3683432" y="4114800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83432" y="4425696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통화 자동 기록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83432" y="5047488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P1 · P5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1296" y="3913632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30" name="Text 28"/>
          <p:cNvSpPr/>
          <p:nvPr/>
        </p:nvSpPr>
        <p:spPr>
          <a:xfrm>
            <a:off x="6525616" y="4114800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25616" y="4425696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사전 문진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25616" y="5047488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3479" y="3913632"/>
            <a:ext cx="2531288" cy="1481328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34" name="Text 32"/>
          <p:cNvSpPr/>
          <p:nvPr/>
        </p:nvSpPr>
        <p:spPr>
          <a:xfrm>
            <a:off x="9367799" y="4114800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367799" y="4425696"/>
            <a:ext cx="1982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경영 대시보드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67799" y="5047488"/>
            <a:ext cx="198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P5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87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우선 적용 모듈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효과가 보이는 두 모듈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7288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975104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9751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2523744"/>
            <a:ext cx="450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예측 &amp; 스마트 오버부킹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50976" y="3255264"/>
            <a:ext cx="450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이력, 리드타임, 요일 · 시간대, 이전 취소 패턴, 주기 단계를 근거로 예약 건별 노쇼 확률을 산출합니다.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41696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91056" y="4169664"/>
            <a:ext cx="386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예약에 추가 확인 알림톡을 자동 발송하고, 확률이 임계치를 넘으면 해당 슬롯에 대기 환자를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" y="4882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91056" y="4882896"/>
            <a:ext cx="386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고단가 시술 슬롯의 공백 최소화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1880" y="1700784"/>
            <a:ext cx="5272888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5928" y="1975104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6" name="Text 14"/>
          <p:cNvSpPr/>
          <p:nvPr/>
        </p:nvSpPr>
        <p:spPr>
          <a:xfrm>
            <a:off x="673592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6280" y="19751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5928" y="2523744"/>
            <a:ext cx="450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AI 예약 상담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35928" y="3255264"/>
            <a:ext cx="4504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채널과 웹에서 자연어로 예약 · 변경 · 조회를 처리합니다. "내일 갈 수 있나요" 같은 문장을 실제 슬롯 조회로 연결합니다.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35928" y="41696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76008" y="4169664"/>
            <a:ext cx="386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예약 API를 그대로 호출하므로 사람이 잡은 예약과 동일한 규칙 · 제한이 적용됨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35928" y="4882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76008" y="4882896"/>
            <a:ext cx="386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전화 인입을 채널로 분산, 야간 · 휴일 접수 가능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87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확장 모듈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· 이탈 · 운영 데이터로 확장하는 여섯 모듈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792224"/>
            <a:ext cx="340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2084832"/>
            <a:ext cx="3405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기반 자동 리콜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과거 주기 길이와 진료 단계를 학습해 다음 내원 시점을 예측하고, 그 전날 선제적으로 안내합니다. 환자가 전화로 묻기 전에 병원이 먼저 도달합니다.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93082" y="1792224"/>
            <a:ext cx="340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93082" y="2084832"/>
            <a:ext cx="3405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예측 &amp; 리텐션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93082" y="2468880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이후 재방문이 끊긴 환자를 자동 식별해 접촉 우선순위를 매기고, 상담 스크립트와 재방문 캠페인 메시지를 생성합니다.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19237" y="1792224"/>
            <a:ext cx="340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19237" y="2084832"/>
            <a:ext cx="3405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자동 재배치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9237" y="2468880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휴진·시술 일정이 등록되면 영향받는 예약을 산출하고 대체 슬롯 조합을 최적화해 제안합니다. 관리자는 검토·승인만 하면 알림톡까지 일괄 발송됩니다.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767328"/>
            <a:ext cx="340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059936"/>
            <a:ext cx="3405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통화 자동 기록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4443984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통화를 음성 인식으로 텍스트화하고 요약해 환자 카드에 첨부합니다. 상담 내용이 담당자 기억이 아니라 시스템에 남습니다.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93082" y="3767328"/>
            <a:ext cx="340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93082" y="4059936"/>
            <a:ext cx="3405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사전 문진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93082" y="4443984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내원 전 대화형 문진 응답을 진료 준비용 요약 노트로 생성해 EMR 입력 초안으로 전달합니다. 진료 시간의 문진 비중이 줄어듭니다.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19237" y="3767328"/>
            <a:ext cx="340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AI-08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19237" y="4059936"/>
            <a:ext cx="3405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경영 대시보드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19237" y="4443984"/>
            <a:ext cx="32592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"지난달 노쇼율이 가장 높은 시간대는?"처럼 물으면 즉시 집계와 차트로 답합니다. 월말 수기 집계 없이 상시 지표를 확보합니다.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병원별 독립 인스턴스로 구축합니다. 데이터베이스와 도메인이 병원마다 분리되므로 타 병원과 데이터가 섞이지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7839" cy="603504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6596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78608" y="2093976"/>
            <a:ext cx="1677558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2093976"/>
            <a:ext cx="16775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모바일 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5038" y="2093976"/>
            <a:ext cx="1677558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5038" y="2093976"/>
            <a:ext cx="16775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채널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1468" y="2093976"/>
            <a:ext cx="1677558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1468" y="2093976"/>
            <a:ext cx="16775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관리자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67899" y="2093976"/>
            <a:ext cx="1677558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67899" y="2093976"/>
            <a:ext cx="16775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화면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64329" y="2093976"/>
            <a:ext cx="1677558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64329" y="2093976"/>
            <a:ext cx="16775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 대시보드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697480"/>
            <a:ext cx="11057839" cy="603504"/>
          </a:xfrm>
          <a:prstGeom prst="rect">
            <a:avLst/>
          </a:prstGeom>
          <a:solidFill>
            <a:srgbClr val="F7F1E2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269748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레이어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78608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예측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61772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1772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에이전트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44937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4937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리콜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28101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101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예측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11266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1266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최적화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94430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4430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요약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277595" y="2825496"/>
            <a:ext cx="1164292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E3D3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77595" y="2825496"/>
            <a:ext cx="116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질의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3429000"/>
            <a:ext cx="11057839" cy="603504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" y="342900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· 검증됨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578608" y="3557016"/>
            <a:ext cx="1378153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8608" y="3557016"/>
            <a:ext cx="13781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엔진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75633" y="3557016"/>
            <a:ext cx="1378153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75633" y="3557016"/>
            <a:ext cx="13781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사전계산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2658" y="3557016"/>
            <a:ext cx="1378153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2658" y="3557016"/>
            <a:ext cx="13781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관리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69684" y="3557016"/>
            <a:ext cx="1378153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9684" y="3557016"/>
            <a:ext cx="13781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마스터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66709" y="3557016"/>
            <a:ext cx="1378153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66709" y="3557016"/>
            <a:ext cx="13781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워크플로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63734" y="3557016"/>
            <a:ext cx="1378153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63734" y="3557016"/>
            <a:ext cx="13781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" y="4160520"/>
            <a:ext cx="110578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" y="41605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2578608" y="428853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78608" y="428853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24146" y="428853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4146" y="428853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본인인증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69684" y="428853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9684" y="428853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연계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15221" y="428853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15221" y="428853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결제(선택)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" y="4892040"/>
            <a:ext cx="110578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" y="489204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2578608" y="502005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78608" y="502005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24146" y="502005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4146" y="502005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TypeScript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69684" y="502005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69684" y="502005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리전 배포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315221" y="5020056"/>
            <a:ext cx="2126666" cy="347472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9525">
            <a:solidFill>
              <a:srgbClr val="BBD3C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15221" y="5020056"/>
            <a:ext cx="212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백업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연계 범위는 병원이 사용하는 솔루션과 개방된 인터페이스에 따라 달라집니다. 표준 연동이 불가한 환경에서는 예약 건별 EMR 반영 상태 관리 방식으로 누락을 통제합니다.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어떻게 측정할 것인가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첫 달을 기준선으로 측정하고, 분기마다 실측값을 리포트로 제공합니다.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41772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9456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전화 인입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487168"/>
            <a:ext cx="283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2907792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카카오 셀프 예약 전환율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6986" y="2011680"/>
            <a:ext cx="341772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9594" y="219456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9594" y="2487168"/>
            <a:ext cx="283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79594" y="2907792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리마인더 + 예측 확인 발송 전후 비교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07045" y="2011680"/>
            <a:ext cx="341772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99653" y="219456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슬롯 가동률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99653" y="2487168"/>
            <a:ext cx="283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99653" y="2907792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공실 슬롯 대체 배정 건수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584448"/>
            <a:ext cx="341772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76732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재진입률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4059936"/>
            <a:ext cx="283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9536" y="448056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후 90일 내 재방문 비율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6986" y="3584448"/>
            <a:ext cx="341772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9594" y="376732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처리 시간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79594" y="4059936"/>
            <a:ext cx="283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79594" y="448056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데스크 처리 소요 시간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07045" y="3584448"/>
            <a:ext cx="341772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9653" y="376732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99653" y="4059936"/>
            <a:ext cx="283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499653" y="448056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미반영 예약 건수 추이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57839" cy="932688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358384"/>
            <a:ext cx="1039947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개선 수치는 병원의 현재 운영 방식 · 환자 구성 · 기존 시스템 유무에 따라 편차가 큽니다. 사전 진단에서 귀 병원의 실제 데이터를 확인한 뒤 숫자로 약속 가능한 목표치를 별도 제안서에 명시합니다.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검증되지 않은 일반화된 수치를 앞세우지 않는 것이 저희 원칙입니다.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절차 — 표준 12주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코어가 이미 완성되어 있으므로, 기간의 대부분은 개발이 아니라 귀 병원의 진료 규칙을 시스템에 반영하는 작업에 쓰입니다.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20482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– 2주차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5184" y="20482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&amp; 요건 확정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04688" y="2048256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예약 · 상담 프로세스 관찰, 스케줄 규칙 정리, EMR 환경 확인, 기준 지표 측정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706624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7066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– 5주차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27066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구축 &amp; 맞춤 설정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04688" y="2706624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인스턴스 생성, 의료진 · 슬롯 규칙 설정, 브랜드 디자인 적용, 도메인 연결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3364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– 7주차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15184" y="33649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알림톡 &amp; 채널 연동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04688" y="3364992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채널 개설, 템플릿 등록 · 심사, 본인인증 연동, 발송 시나리오 검증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40233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– 9주차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15184" y="40233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모듈 적용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4023360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예약 데이터 이관 후 예측 모델 기준선 학습, 우선순위 높은 모듈부터 순차 활성화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681728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681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46817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– 10주차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15184" y="46817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&amp; 병행 운영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4681728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교육, 기존 방식과 2주 병행 운영으로 리스크 제거, 현장 피드백 반영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340096"/>
            <a:ext cx="402336" cy="402336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70432" y="5340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– 12주차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15184" y="53400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오픈 &amp; 안정화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04688" y="5340096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전환, 초기 2주 밀착 대응, 지표 리포트 체계 가동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및 컴플라이언스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진료 정보는 가장 민감한 개인정보에 속합니다. 기술적 조치와 운영 규칙을 함께 설계합니다.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310896" cy="310896"/>
          </a:xfrm>
          <a:prstGeom prst="ellipse">
            <a:avLst/>
          </a:prstGeom>
          <a:solidFill>
            <a:srgbClr val="EDF3F1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" y="2153412"/>
            <a:ext cx="100584" cy="10058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020824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리전 보관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2523744"/>
            <a:ext cx="319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데이터베이스와 애플리케이션 모두 국내(서울) 리전에서 운영합니다. 환자 정보는 국외로 이전되지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5274" y="2048256"/>
            <a:ext cx="310896" cy="310896"/>
          </a:xfrm>
          <a:prstGeom prst="ellipse">
            <a:avLst/>
          </a:prstGeom>
          <a:solidFill>
            <a:srgbClr val="ED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10430" y="2153412"/>
            <a:ext cx="100584" cy="10058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1" name="Text 9"/>
          <p:cNvSpPr/>
          <p:nvPr/>
        </p:nvSpPr>
        <p:spPr>
          <a:xfrm>
            <a:off x="4862474" y="2020824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병원별 데이터 분리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05274" y="2523744"/>
            <a:ext cx="319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병원마다 독립 데이터베이스 · 독립 도메인으로 구축합니다. 타 병원과 데이터가 공유되는 구조가 아닙니다.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43621" y="2048256"/>
            <a:ext cx="310896" cy="310896"/>
          </a:xfrm>
          <a:prstGeom prst="ellipse">
            <a:avLst/>
          </a:prstGeom>
          <a:solidFill>
            <a:srgbClr val="ED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348777" y="2153412"/>
            <a:ext cx="100584" cy="10058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5" name="Text 13"/>
          <p:cNvSpPr/>
          <p:nvPr/>
        </p:nvSpPr>
        <p:spPr>
          <a:xfrm>
            <a:off x="8700821" y="2020824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 &amp; 감사 로그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43621" y="2523744"/>
            <a:ext cx="319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역할 기반 권한 분리, 환자 정보 조회 · 변경 이력 기록. 누가 언제 무엇을 바꿨는지 추적 가능합니다.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877056"/>
            <a:ext cx="310896" cy="310896"/>
          </a:xfrm>
          <a:prstGeom prst="ellipse">
            <a:avLst/>
          </a:prstGeom>
          <a:solidFill>
            <a:srgbClr val="EDF3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" y="3982212"/>
            <a:ext cx="100584" cy="10058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849624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 데이터 통제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4352544"/>
            <a:ext cx="319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데이터는 외부 모델의 학습에 사용되지 않습니다. AI 처리 시 식별정보는 최소화하여 전달합니다.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5274" y="3877056"/>
            <a:ext cx="310896" cy="310896"/>
          </a:xfrm>
          <a:prstGeom prst="ellipse">
            <a:avLst/>
          </a:prstGeom>
          <a:solidFill>
            <a:srgbClr val="EDF3F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10430" y="3982212"/>
            <a:ext cx="100584" cy="10058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23" name="Text 21"/>
          <p:cNvSpPr/>
          <p:nvPr/>
        </p:nvSpPr>
        <p:spPr>
          <a:xfrm>
            <a:off x="4862474" y="3849624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본인인증 기반 접근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05274" y="4352544"/>
            <a:ext cx="319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예약 조회는 휴대폰 또는 카카오 인증을 거칩니다. 이름 · 생년월일만으로 타인 예약이 조회되지 않습니다.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43621" y="3877056"/>
            <a:ext cx="310896" cy="310896"/>
          </a:xfrm>
          <a:prstGeom prst="ellipse">
            <a:avLst/>
          </a:prstGeom>
          <a:solidFill>
            <a:srgbClr val="EDF3F1"/>
          </a:solidFill>
          <a:ln/>
        </p:spPr>
      </p:sp>
      <p:sp>
        <p:nvSpPr>
          <p:cNvPr id="26" name="Shape 24"/>
          <p:cNvSpPr/>
          <p:nvPr/>
        </p:nvSpPr>
        <p:spPr>
          <a:xfrm>
            <a:off x="8348777" y="3982212"/>
            <a:ext cx="100584" cy="100584"/>
          </a:xfrm>
          <a:prstGeom prst="ellipse">
            <a:avLst/>
          </a:prstGeom>
          <a:solidFill>
            <a:srgbClr val="0D5257"/>
          </a:solidFill>
          <a:ln/>
        </p:spPr>
      </p:sp>
      <p:sp>
        <p:nvSpPr>
          <p:cNvPr id="27" name="Text 25"/>
          <p:cNvSpPr/>
          <p:nvPr/>
        </p:nvSpPr>
        <p:spPr>
          <a:xfrm>
            <a:off x="8700821" y="3849624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&amp; 복구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43621" y="4352544"/>
            <a:ext cx="31982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자동 백업과 시점 복구를 운영하며, 장애 대응 절차와 연락 체계를 계약에 명시합니다.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방식과 비용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구축비와 월 운영비로 구성합니다. 병원 규모(의료진 수 · 월 예약 건수)와 선택 모듈에 따라 조정되며, 아래는 협의 기준안입니다.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3381146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49424"/>
            <a:ext cx="2722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67004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 + 월 운영비 · 협의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962656"/>
            <a:ext cx="27227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3인 이하 / 예약 시스템 첫 도입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3566160"/>
            <a:ext cx="2722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예약 웹 &amp; 데스크 관리자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스케줄 &amp; 변경 승인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 7종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통계 대시보드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5274" y="2048256"/>
            <a:ext cx="3381146" cy="3602736"/>
          </a:xfrm>
          <a:prstGeom prst="rect">
            <a:avLst/>
          </a:prstGeom>
          <a:solidFill>
            <a:srgbClr val="EDF3F1"/>
          </a:solidFill>
          <a:ln/>
        </p:spPr>
      </p:sp>
      <p:sp>
        <p:nvSpPr>
          <p:cNvPr id="11" name="Text 9"/>
          <p:cNvSpPr/>
          <p:nvPr/>
        </p:nvSpPr>
        <p:spPr>
          <a:xfrm>
            <a:off x="4734458" y="2249424"/>
            <a:ext cx="2722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34861" y="2322576"/>
            <a:ext cx="731520" cy="274320"/>
          </a:xfrm>
          <a:prstGeom prst="roundRect">
            <a:avLst>
              <a:gd name="adj" fmla="val 46667"/>
            </a:avLst>
          </a:prstGeom>
          <a:solidFill>
            <a:srgbClr val="F7F1E2"/>
          </a:solidFill>
          <a:ln/>
        </p:spPr>
      </p:sp>
      <p:sp>
        <p:nvSpPr>
          <p:cNvPr id="13" name="Text 11"/>
          <p:cNvSpPr/>
          <p:nvPr/>
        </p:nvSpPr>
        <p:spPr>
          <a:xfrm>
            <a:off x="6734861" y="2322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34458" y="267004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 + 월 운영비 · 협의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4458" y="2962656"/>
            <a:ext cx="27227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4–10인 / 노쇼와 콜 부하가 실제 비용인 병원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4458" y="3566160"/>
            <a:ext cx="2722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전체 포함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노쇼 예측 &amp; 오버부킹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AI 예약 상담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기반 자동 리콜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예측 &amp; 리텐션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지표 리포트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43621" y="2048256"/>
            <a:ext cx="3381146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E1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2805" y="2249424"/>
            <a:ext cx="2722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72805" y="267004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67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별도 협의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2805" y="2962656"/>
            <a:ext cx="27227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다지점 운영 / EMR 연계 및 전용 요건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72805" y="3566160"/>
            <a:ext cx="27227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전체 포함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모듈 8종 전체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연계 개발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 통합 대시보드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544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기능 개발 &amp; 전담 지원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58338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 발송 단가와 본인인증 건당 비용 등 외부 서비스 실비는 별도이며 사용량 기준으로 청구됩니다. 협의 항목은 병원 규모 확인 후 확정 견적으로 대체됩니다.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3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F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병원의 숫자를 보고 이야기하겠습니다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157984"/>
            <a:ext cx="3381146" cy="1773936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395728"/>
            <a:ext cx="402336" cy="402336"/>
          </a:xfrm>
          <a:prstGeom prst="ellipse">
            <a:avLst/>
          </a:prstGeom>
          <a:solidFill>
            <a:srgbClr val="7FD8C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5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 진단 · 60분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273552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예약 · 상담 프로세스와 최근 3개월 예약 데이터를 함께 확인합니다.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5274" y="2157984"/>
            <a:ext cx="3381146" cy="1773936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10" name="Shape 8"/>
          <p:cNvSpPr/>
          <p:nvPr/>
        </p:nvSpPr>
        <p:spPr>
          <a:xfrm>
            <a:off x="4734458" y="2395728"/>
            <a:ext cx="402336" cy="402336"/>
          </a:xfrm>
          <a:prstGeom prst="ellipse">
            <a:avLst/>
          </a:prstGeom>
          <a:solidFill>
            <a:srgbClr val="7FD8C9"/>
          </a:solidFill>
          <a:ln/>
        </p:spPr>
      </p:sp>
      <p:sp>
        <p:nvSpPr>
          <p:cNvPr id="11" name="Text 9"/>
          <p:cNvSpPr/>
          <p:nvPr/>
        </p:nvSpPr>
        <p:spPr>
          <a:xfrm>
            <a:off x="473445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5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4458" y="2926080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리포트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4458" y="3273552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노쇼율 · 전화 인입량 · 슬롯 공실률을 실제 숫자로 산출해 드립니다.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3621" y="2157984"/>
            <a:ext cx="3381146" cy="1773936"/>
          </a:xfrm>
          <a:prstGeom prst="rect">
            <a:avLst/>
          </a:prstGeom>
          <a:solidFill>
            <a:srgbClr val="0E4A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572805" y="2395728"/>
            <a:ext cx="402336" cy="402336"/>
          </a:xfrm>
          <a:prstGeom prst="ellipse">
            <a:avLst/>
          </a:prstGeom>
          <a:solidFill>
            <a:srgbClr val="7FD8C9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805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5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805" y="2926080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제안서 · 2주 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2805" y="3273552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목표치, 적용 모듈, 확정 견적, 상세 일정을 문서로 제출합니다.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41148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진단과 제안서 작성에는 비용이 발생하지 않습니다.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956048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E9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5230368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 입력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2828" y="4956048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E9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2828" y="5230368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/ 직함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78728" y="4956048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E9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78728" y="5230368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34627" y="4956048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E91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34627" y="5230368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contact@example.com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7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전문병원 AI 스마트 CRM · 사업 소개서 · Rev. 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난임 전문병원을 위한 AI 스마트 CRM 소개서</dc:title>
  <dc:subject>PptxGenJS Presentation</dc:subject>
  <dc:creator>AI Smart CRM</dc:creator>
  <cp:lastModifiedBy>AI Smart CRM</cp:lastModifiedBy>
  <cp:revision>1</cp:revision>
  <dcterms:created xsi:type="dcterms:W3CDTF">2026-08-11T08:48:26Z</dcterms:created>
  <dcterms:modified xsi:type="dcterms:W3CDTF">2026-08-11T08:48:26Z</dcterms:modified>
</cp:coreProperties>
</file>